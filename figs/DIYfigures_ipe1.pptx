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208"/>
    <p:restoredTop sz="94178"/>
  </p:normalViewPr>
  <p:slideViewPr>
    <p:cSldViewPr snapToGrid="0">
      <p:cViewPr varScale="1">
        <p:scale>
          <a:sx n="50" d="100"/>
          <a:sy n="50" d="100"/>
        </p:scale>
        <p:origin x="168" y="1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6D782B-3AE9-6341-8054-2A504A814F31}" type="doc">
      <dgm:prSet loTypeId="urn:microsoft.com/office/officeart/2005/8/layout/cycle3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kumimoji="1" lang="ja-JP" altLang="en-US"/>
        </a:p>
      </dgm:t>
    </dgm:pt>
    <dgm:pt modelId="{409F7A24-5637-5243-801D-289994206447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赤字</a:t>
          </a:r>
        </a:p>
      </dgm:t>
    </dgm:pt>
    <dgm:pt modelId="{2CE23994-248B-7D40-BED2-A70B6FE371A8}" type="parTrans" cxnId="{577D96AE-07E1-BE47-813A-2058F110D0DD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7224B14F-880B-634F-A526-C4E35D50D1E3}" type="sibTrans" cxnId="{577D96AE-07E1-BE47-813A-2058F110D0DD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16418477-AF6E-7849-9D54-63386E430A36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金準備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</a:p>
      </dgm:t>
    </dgm:pt>
    <dgm:pt modelId="{9C786919-0F2A-6E4A-AEDF-D6709759B767}" type="parTrans" cxnId="{5B2D995C-4229-074D-A910-AF2E78F79A75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E53BBC97-B433-8C4B-B689-19334FF5366E}" type="sibTrans" cxnId="{5B2D995C-4229-074D-A910-AF2E78F79A75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D56B6BE1-E4D0-394D-A3D2-CB5AA4024D55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紙幣発行量</a:t>
          </a:r>
          <a:endParaRPr kumimoji="1" lang="en-US" altLang="ja-JP" dirty="0">
            <a:latin typeface="Hiragino Sans W4" panose="020B0400000000000000" pitchFamily="34" charset="-128"/>
            <a:ea typeface="Hiragino Sans W4" panose="020B0400000000000000" pitchFamily="34" charset="-128"/>
          </a:endParaRPr>
        </a:p>
        <a:p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</a:p>
      </dgm:t>
    </dgm:pt>
    <dgm:pt modelId="{659AC1EE-6628-824A-B823-52F387E01033}" type="parTrans" cxnId="{9D35A697-CD78-E84D-ACD4-57979380DB8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486BE965-D079-354A-8A11-71412DC2A78D}" type="sibTrans" cxnId="{9D35A697-CD78-E84D-ACD4-57979380DB8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87C913A6-2A36-C840-8C34-44B345906945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物価安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（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デフレ</a:t>
          </a: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</a:p>
      </dgm:t>
    </dgm:pt>
    <dgm:pt modelId="{721C540D-DF5C-DF47-BE38-5DB2CA559E21}" type="parTrans" cxnId="{F9CE7798-BD42-3349-9408-17F59482892B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1E788998-85E9-D34F-801B-7347E3EB0C3E}" type="sibTrans" cxnId="{F9CE7798-BD42-3349-9408-17F59482892B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4326A752-E400-4E49-AD2E-BF0AD97A978D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黒字</a:t>
          </a:r>
        </a:p>
      </dgm:t>
    </dgm:pt>
    <dgm:pt modelId="{8C968CE8-34FF-894B-AA65-CFAA90D070D2}" type="parTrans" cxnId="{6C30B45B-8310-254F-9AAE-B9AD3AED63A7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2D7F8951-F8BF-6143-9646-1A76370E1C63}" type="sibTrans" cxnId="{6C30B45B-8310-254F-9AAE-B9AD3AED63A7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3C65A1CA-C348-8A46-854D-CB8C83D8A112}">
      <dgm:prSet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紙幣発行量</a:t>
          </a:r>
          <a:endParaRPr kumimoji="1" lang="en-US" altLang="ja-JP" dirty="0">
            <a:latin typeface="Hiragino Sans W4" panose="020B0400000000000000" pitchFamily="34" charset="-128"/>
            <a:ea typeface="Hiragino Sans W4" panose="020B0400000000000000" pitchFamily="34" charset="-128"/>
          </a:endParaRPr>
        </a:p>
        <a:p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</a:p>
      </dgm:t>
    </dgm:pt>
    <dgm:pt modelId="{DDA734B1-D250-FF4A-9EFE-180B0BD9CCAF}" type="parTrans" cxnId="{E7FF6F82-93E0-D245-A83F-620DB99CE8D3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2F07F163-A262-EB47-B21A-0E2F0E12D06A}" type="sibTrans" cxnId="{E7FF6F82-93E0-D245-A83F-620DB99CE8D3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DF12632C-3DFF-0444-AEBA-90FAE8978665}">
      <dgm:prSet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物価高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（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インフレ</a:t>
          </a: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</a:p>
      </dgm:t>
    </dgm:pt>
    <dgm:pt modelId="{8AA5A6E9-F9F8-0348-BDD0-7A4FF5DF3A1A}" type="parTrans" cxnId="{A8226A73-0A2E-814D-A4FF-61D325853B73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4D1C6FE3-0A91-4541-9BF5-1DA217B5C9DF}" type="sibTrans" cxnId="{A8226A73-0A2E-814D-A4FF-61D325853B73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D944F075-B569-C445-9131-D0B813F81D95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金準備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</a:p>
      </dgm:t>
    </dgm:pt>
    <dgm:pt modelId="{2AB657AE-DE05-6642-A47F-D076DBCFE7BC}" type="parTrans" cxnId="{2A45D999-46E5-E141-A889-E7E6724A1BE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86A5A618-D0E0-BF4D-8C48-0331F40F0028}" type="sibTrans" cxnId="{2A45D999-46E5-E141-A889-E7E6724A1BE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7DD4AF64-A9A0-0447-B0C4-D6B9B3516151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</a:p>
      </dgm:t>
    </dgm:pt>
    <dgm:pt modelId="{B57ED926-CE1F-4641-AA0C-C09D6349E256}" type="parTrans" cxnId="{1BB56B13-ED54-7F49-9C44-E54F0DF65363}">
      <dgm:prSet/>
      <dgm:spPr/>
      <dgm:t>
        <a:bodyPr/>
        <a:lstStyle/>
        <a:p>
          <a:endParaRPr kumimoji="1" lang="ja-JP" altLang="en-US"/>
        </a:p>
      </dgm:t>
    </dgm:pt>
    <dgm:pt modelId="{ECF88FB9-0318-774B-B23E-647D9434C6E1}" type="sibTrans" cxnId="{1BB56B13-ED54-7F49-9C44-E54F0DF65363}">
      <dgm:prSet/>
      <dgm:spPr/>
      <dgm:t>
        <a:bodyPr/>
        <a:lstStyle/>
        <a:p>
          <a:endParaRPr kumimoji="1" lang="ja-JP" altLang="en-US"/>
        </a:p>
      </dgm:t>
    </dgm:pt>
    <dgm:pt modelId="{10ABBA3C-4CBE-6A4D-9344-A61ED31E64BC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</a:p>
      </dgm:t>
    </dgm:pt>
    <dgm:pt modelId="{9A064722-0612-A447-BDB7-330EC0904293}" type="parTrans" cxnId="{C0E784F6-C225-F145-A263-D8CED48EF51E}">
      <dgm:prSet/>
      <dgm:spPr/>
      <dgm:t>
        <a:bodyPr/>
        <a:lstStyle/>
        <a:p>
          <a:endParaRPr kumimoji="1" lang="ja-JP" altLang="en-US"/>
        </a:p>
      </dgm:t>
    </dgm:pt>
    <dgm:pt modelId="{7289D30D-5B08-C740-8928-6C5502B260FE}" type="sibTrans" cxnId="{C0E784F6-C225-F145-A263-D8CED48EF51E}">
      <dgm:prSet/>
      <dgm:spPr/>
      <dgm:t>
        <a:bodyPr/>
        <a:lstStyle/>
        <a:p>
          <a:endParaRPr kumimoji="1" lang="ja-JP" altLang="en-US"/>
        </a:p>
      </dgm:t>
    </dgm:pt>
    <dgm:pt modelId="{CA38CAAF-4126-F842-9139-795E9B492809}" type="pres">
      <dgm:prSet presAssocID="{056D782B-3AE9-6341-8054-2A504A814F31}" presName="Name0" presStyleCnt="0">
        <dgm:presLayoutVars>
          <dgm:dir/>
          <dgm:resizeHandles val="exact"/>
        </dgm:presLayoutVars>
      </dgm:prSet>
      <dgm:spPr/>
    </dgm:pt>
    <dgm:pt modelId="{CE83B688-DEF8-2646-90E9-C08F8A3E70E7}" type="pres">
      <dgm:prSet presAssocID="{056D782B-3AE9-6341-8054-2A504A814F31}" presName="cycle" presStyleCnt="0"/>
      <dgm:spPr/>
    </dgm:pt>
    <dgm:pt modelId="{D94B10FC-86A6-FF4A-A1B2-1E5A15A9B8EC}" type="pres">
      <dgm:prSet presAssocID="{409F7A24-5637-5243-801D-289994206447}" presName="nodeFirstNode" presStyleLbl="node1" presStyleIdx="0" presStyleCnt="10">
        <dgm:presLayoutVars>
          <dgm:bulletEnabled val="1"/>
        </dgm:presLayoutVars>
      </dgm:prSet>
      <dgm:spPr/>
    </dgm:pt>
    <dgm:pt modelId="{19409FAB-9ED0-024C-9BD3-FA3940064CB5}" type="pres">
      <dgm:prSet presAssocID="{7224B14F-880B-634F-A526-C4E35D50D1E3}" presName="sibTransFirstNode" presStyleLbl="bgShp" presStyleIdx="0" presStyleCnt="1"/>
      <dgm:spPr/>
    </dgm:pt>
    <dgm:pt modelId="{A6D2C092-8BDD-184F-B60A-95002E1C617A}" type="pres">
      <dgm:prSet presAssocID="{16418477-AF6E-7849-9D54-63386E430A36}" presName="nodeFollowingNodes" presStyleLbl="node1" presStyleIdx="1" presStyleCnt="10">
        <dgm:presLayoutVars>
          <dgm:bulletEnabled val="1"/>
        </dgm:presLayoutVars>
      </dgm:prSet>
      <dgm:spPr/>
    </dgm:pt>
    <dgm:pt modelId="{659FE536-1F1D-504E-930D-115BE2D22DCB}" type="pres">
      <dgm:prSet presAssocID="{D56B6BE1-E4D0-394D-A3D2-CB5AA4024D55}" presName="nodeFollowingNodes" presStyleLbl="node1" presStyleIdx="2" presStyleCnt="10">
        <dgm:presLayoutVars>
          <dgm:bulletEnabled val="1"/>
        </dgm:presLayoutVars>
      </dgm:prSet>
      <dgm:spPr/>
    </dgm:pt>
    <dgm:pt modelId="{BC53A7EE-063F-0243-80AC-C4417FF60454}" type="pres">
      <dgm:prSet presAssocID="{87C913A6-2A36-C840-8C34-44B345906945}" presName="nodeFollowingNodes" presStyleLbl="node1" presStyleIdx="3" presStyleCnt="10">
        <dgm:presLayoutVars>
          <dgm:bulletEnabled val="1"/>
        </dgm:presLayoutVars>
      </dgm:prSet>
      <dgm:spPr/>
    </dgm:pt>
    <dgm:pt modelId="{9C1F367D-4B7A-2E43-AB57-E2005CEC54C2}" type="pres">
      <dgm:prSet presAssocID="{7DD4AF64-A9A0-0447-B0C4-D6B9B3516151}" presName="nodeFollowingNodes" presStyleLbl="node1" presStyleIdx="4" presStyleCnt="10">
        <dgm:presLayoutVars>
          <dgm:bulletEnabled val="1"/>
        </dgm:presLayoutVars>
      </dgm:prSet>
      <dgm:spPr/>
    </dgm:pt>
    <dgm:pt modelId="{1DF87B89-7439-B148-B088-80277B1BDDD3}" type="pres">
      <dgm:prSet presAssocID="{4326A752-E400-4E49-AD2E-BF0AD97A978D}" presName="nodeFollowingNodes" presStyleLbl="node1" presStyleIdx="5" presStyleCnt="10">
        <dgm:presLayoutVars>
          <dgm:bulletEnabled val="1"/>
        </dgm:presLayoutVars>
      </dgm:prSet>
      <dgm:spPr/>
    </dgm:pt>
    <dgm:pt modelId="{93260571-C263-5C47-A419-401F437055EE}" type="pres">
      <dgm:prSet presAssocID="{D944F075-B569-C445-9131-D0B813F81D95}" presName="nodeFollowingNodes" presStyleLbl="node1" presStyleIdx="6" presStyleCnt="10">
        <dgm:presLayoutVars>
          <dgm:bulletEnabled val="1"/>
        </dgm:presLayoutVars>
      </dgm:prSet>
      <dgm:spPr/>
    </dgm:pt>
    <dgm:pt modelId="{5A043805-F757-CF4A-9485-BE4798BC4994}" type="pres">
      <dgm:prSet presAssocID="{3C65A1CA-C348-8A46-854D-CB8C83D8A112}" presName="nodeFollowingNodes" presStyleLbl="node1" presStyleIdx="7" presStyleCnt="10">
        <dgm:presLayoutVars>
          <dgm:bulletEnabled val="1"/>
        </dgm:presLayoutVars>
      </dgm:prSet>
      <dgm:spPr/>
    </dgm:pt>
    <dgm:pt modelId="{1A690F30-74B2-4847-B5F5-75A4E2E3AD9E}" type="pres">
      <dgm:prSet presAssocID="{DF12632C-3DFF-0444-AEBA-90FAE8978665}" presName="nodeFollowingNodes" presStyleLbl="node1" presStyleIdx="8" presStyleCnt="10">
        <dgm:presLayoutVars>
          <dgm:bulletEnabled val="1"/>
        </dgm:presLayoutVars>
      </dgm:prSet>
      <dgm:spPr/>
    </dgm:pt>
    <dgm:pt modelId="{CAAC65CA-09FF-B642-B0C8-D19A7DEB4844}" type="pres">
      <dgm:prSet presAssocID="{10ABBA3C-4CBE-6A4D-9344-A61ED31E64BC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1BB56B13-ED54-7F49-9C44-E54F0DF65363}" srcId="{056D782B-3AE9-6341-8054-2A504A814F31}" destId="{7DD4AF64-A9A0-0447-B0C4-D6B9B3516151}" srcOrd="4" destOrd="0" parTransId="{B57ED926-CE1F-4641-AA0C-C09D6349E256}" sibTransId="{ECF88FB9-0318-774B-B23E-647D9434C6E1}"/>
    <dgm:cxn modelId="{6A0B0F2E-2934-3045-AD32-EBA1ABE99F07}" type="presOf" srcId="{D56B6BE1-E4D0-394D-A3D2-CB5AA4024D55}" destId="{659FE536-1F1D-504E-930D-115BE2D22DCB}" srcOrd="0" destOrd="0" presId="urn:microsoft.com/office/officeart/2005/8/layout/cycle3"/>
    <dgm:cxn modelId="{27EBC02E-1C68-4E47-8647-6AB276C18D75}" type="presOf" srcId="{409F7A24-5637-5243-801D-289994206447}" destId="{D94B10FC-86A6-FF4A-A1B2-1E5A15A9B8EC}" srcOrd="0" destOrd="0" presId="urn:microsoft.com/office/officeart/2005/8/layout/cycle3"/>
    <dgm:cxn modelId="{D0BACC40-C4A8-4749-AA24-869A59819CF2}" type="presOf" srcId="{D944F075-B569-C445-9131-D0B813F81D95}" destId="{93260571-C263-5C47-A419-401F437055EE}" srcOrd="0" destOrd="0" presId="urn:microsoft.com/office/officeart/2005/8/layout/cycle3"/>
    <dgm:cxn modelId="{D185AB42-0F14-4D4C-9C56-5C98F4A0057B}" type="presOf" srcId="{7224B14F-880B-634F-A526-C4E35D50D1E3}" destId="{19409FAB-9ED0-024C-9BD3-FA3940064CB5}" srcOrd="0" destOrd="0" presId="urn:microsoft.com/office/officeart/2005/8/layout/cycle3"/>
    <dgm:cxn modelId="{6C30B45B-8310-254F-9AAE-B9AD3AED63A7}" srcId="{056D782B-3AE9-6341-8054-2A504A814F31}" destId="{4326A752-E400-4E49-AD2E-BF0AD97A978D}" srcOrd="5" destOrd="0" parTransId="{8C968CE8-34FF-894B-AA65-CFAA90D070D2}" sibTransId="{2D7F8951-F8BF-6143-9646-1A76370E1C63}"/>
    <dgm:cxn modelId="{5B2D995C-4229-074D-A910-AF2E78F79A75}" srcId="{056D782B-3AE9-6341-8054-2A504A814F31}" destId="{16418477-AF6E-7849-9D54-63386E430A36}" srcOrd="1" destOrd="0" parTransId="{9C786919-0F2A-6E4A-AEDF-D6709759B767}" sibTransId="{E53BBC97-B433-8C4B-B689-19334FF5366E}"/>
    <dgm:cxn modelId="{3EB1186E-21B6-7E44-A2A6-389DE8C93B02}" type="presOf" srcId="{DF12632C-3DFF-0444-AEBA-90FAE8978665}" destId="{1A690F30-74B2-4847-B5F5-75A4E2E3AD9E}" srcOrd="0" destOrd="0" presId="urn:microsoft.com/office/officeart/2005/8/layout/cycle3"/>
    <dgm:cxn modelId="{A8226A73-0A2E-814D-A4FF-61D325853B73}" srcId="{056D782B-3AE9-6341-8054-2A504A814F31}" destId="{DF12632C-3DFF-0444-AEBA-90FAE8978665}" srcOrd="8" destOrd="0" parTransId="{8AA5A6E9-F9F8-0348-BDD0-7A4FF5DF3A1A}" sibTransId="{4D1C6FE3-0A91-4541-9BF5-1DA217B5C9DF}"/>
    <dgm:cxn modelId="{4CC58873-E2A0-5D43-BBF6-795001848803}" type="presOf" srcId="{4326A752-E400-4E49-AD2E-BF0AD97A978D}" destId="{1DF87B89-7439-B148-B088-80277B1BDDD3}" srcOrd="0" destOrd="0" presId="urn:microsoft.com/office/officeart/2005/8/layout/cycle3"/>
    <dgm:cxn modelId="{E7FF6F82-93E0-D245-A83F-620DB99CE8D3}" srcId="{056D782B-3AE9-6341-8054-2A504A814F31}" destId="{3C65A1CA-C348-8A46-854D-CB8C83D8A112}" srcOrd="7" destOrd="0" parTransId="{DDA734B1-D250-FF4A-9EFE-180B0BD9CCAF}" sibTransId="{2F07F163-A262-EB47-B21A-0E2F0E12D06A}"/>
    <dgm:cxn modelId="{E70A7B96-E081-FD44-8939-886A69748AA8}" type="presOf" srcId="{056D782B-3AE9-6341-8054-2A504A814F31}" destId="{CA38CAAF-4126-F842-9139-795E9B492809}" srcOrd="0" destOrd="0" presId="urn:microsoft.com/office/officeart/2005/8/layout/cycle3"/>
    <dgm:cxn modelId="{9D35A697-CD78-E84D-ACD4-57979380DB8E}" srcId="{056D782B-3AE9-6341-8054-2A504A814F31}" destId="{D56B6BE1-E4D0-394D-A3D2-CB5AA4024D55}" srcOrd="2" destOrd="0" parTransId="{659AC1EE-6628-824A-B823-52F387E01033}" sibTransId="{486BE965-D079-354A-8A11-71412DC2A78D}"/>
    <dgm:cxn modelId="{F9CE7798-BD42-3349-9408-17F59482892B}" srcId="{056D782B-3AE9-6341-8054-2A504A814F31}" destId="{87C913A6-2A36-C840-8C34-44B345906945}" srcOrd="3" destOrd="0" parTransId="{721C540D-DF5C-DF47-BE38-5DB2CA559E21}" sibTransId="{1E788998-85E9-D34F-801B-7347E3EB0C3E}"/>
    <dgm:cxn modelId="{2A45D999-46E5-E141-A889-E7E6724A1BEE}" srcId="{056D782B-3AE9-6341-8054-2A504A814F31}" destId="{D944F075-B569-C445-9131-D0B813F81D95}" srcOrd="6" destOrd="0" parTransId="{2AB657AE-DE05-6642-A47F-D076DBCFE7BC}" sibTransId="{86A5A618-D0E0-BF4D-8C48-0331F40F0028}"/>
    <dgm:cxn modelId="{6197FC99-AE46-6E4C-9FB6-BED0E84A9581}" type="presOf" srcId="{87C913A6-2A36-C840-8C34-44B345906945}" destId="{BC53A7EE-063F-0243-80AC-C4417FF60454}" srcOrd="0" destOrd="0" presId="urn:microsoft.com/office/officeart/2005/8/layout/cycle3"/>
    <dgm:cxn modelId="{577D96AE-07E1-BE47-813A-2058F110D0DD}" srcId="{056D782B-3AE9-6341-8054-2A504A814F31}" destId="{409F7A24-5637-5243-801D-289994206447}" srcOrd="0" destOrd="0" parTransId="{2CE23994-248B-7D40-BED2-A70B6FE371A8}" sibTransId="{7224B14F-880B-634F-A526-C4E35D50D1E3}"/>
    <dgm:cxn modelId="{A6D78EB5-E5A6-1540-BF46-13AE8A0267D0}" type="presOf" srcId="{16418477-AF6E-7849-9D54-63386E430A36}" destId="{A6D2C092-8BDD-184F-B60A-95002E1C617A}" srcOrd="0" destOrd="0" presId="urn:microsoft.com/office/officeart/2005/8/layout/cycle3"/>
    <dgm:cxn modelId="{403DD2DF-033B-A94D-BF64-6EF556ED9114}" type="presOf" srcId="{7DD4AF64-A9A0-0447-B0C4-D6B9B3516151}" destId="{9C1F367D-4B7A-2E43-AB57-E2005CEC54C2}" srcOrd="0" destOrd="0" presId="urn:microsoft.com/office/officeart/2005/8/layout/cycle3"/>
    <dgm:cxn modelId="{22A65FEB-FB0B-494C-AB9E-05D64EA3D280}" type="presOf" srcId="{3C65A1CA-C348-8A46-854D-CB8C83D8A112}" destId="{5A043805-F757-CF4A-9485-BE4798BC4994}" srcOrd="0" destOrd="0" presId="urn:microsoft.com/office/officeart/2005/8/layout/cycle3"/>
    <dgm:cxn modelId="{C0E784F6-C225-F145-A263-D8CED48EF51E}" srcId="{056D782B-3AE9-6341-8054-2A504A814F31}" destId="{10ABBA3C-4CBE-6A4D-9344-A61ED31E64BC}" srcOrd="9" destOrd="0" parTransId="{9A064722-0612-A447-BDB7-330EC0904293}" sibTransId="{7289D30D-5B08-C740-8928-6C5502B260FE}"/>
    <dgm:cxn modelId="{EA22CFF9-42E4-A54A-95E3-AE8E3E697AFD}" type="presOf" srcId="{10ABBA3C-4CBE-6A4D-9344-A61ED31E64BC}" destId="{CAAC65CA-09FF-B642-B0C8-D19A7DEB4844}" srcOrd="0" destOrd="0" presId="urn:microsoft.com/office/officeart/2005/8/layout/cycle3"/>
    <dgm:cxn modelId="{8CDBF002-D9D0-1F45-B074-950F3052EF68}" type="presParOf" srcId="{CA38CAAF-4126-F842-9139-795E9B492809}" destId="{CE83B688-DEF8-2646-90E9-C08F8A3E70E7}" srcOrd="0" destOrd="0" presId="urn:microsoft.com/office/officeart/2005/8/layout/cycle3"/>
    <dgm:cxn modelId="{08E1F66F-F459-D042-A735-AC06820FD032}" type="presParOf" srcId="{CE83B688-DEF8-2646-90E9-C08F8A3E70E7}" destId="{D94B10FC-86A6-FF4A-A1B2-1E5A15A9B8EC}" srcOrd="0" destOrd="0" presId="urn:microsoft.com/office/officeart/2005/8/layout/cycle3"/>
    <dgm:cxn modelId="{8B30BAF8-B1E4-C044-BFAC-F124B8A48955}" type="presParOf" srcId="{CE83B688-DEF8-2646-90E9-C08F8A3E70E7}" destId="{19409FAB-9ED0-024C-9BD3-FA3940064CB5}" srcOrd="1" destOrd="0" presId="urn:microsoft.com/office/officeart/2005/8/layout/cycle3"/>
    <dgm:cxn modelId="{336F5120-F3FD-A94B-8A92-6024E2FB84A8}" type="presParOf" srcId="{CE83B688-DEF8-2646-90E9-C08F8A3E70E7}" destId="{A6D2C092-8BDD-184F-B60A-95002E1C617A}" srcOrd="2" destOrd="0" presId="urn:microsoft.com/office/officeart/2005/8/layout/cycle3"/>
    <dgm:cxn modelId="{5B9590F9-92CB-4F41-BC4E-66D30673F4AB}" type="presParOf" srcId="{CE83B688-DEF8-2646-90E9-C08F8A3E70E7}" destId="{659FE536-1F1D-504E-930D-115BE2D22DCB}" srcOrd="3" destOrd="0" presId="urn:microsoft.com/office/officeart/2005/8/layout/cycle3"/>
    <dgm:cxn modelId="{140D014D-B9FB-8C40-96D0-E257109123C5}" type="presParOf" srcId="{CE83B688-DEF8-2646-90E9-C08F8A3E70E7}" destId="{BC53A7EE-063F-0243-80AC-C4417FF60454}" srcOrd="4" destOrd="0" presId="urn:microsoft.com/office/officeart/2005/8/layout/cycle3"/>
    <dgm:cxn modelId="{2866F1C1-AFB4-8D4E-86E8-E4DB7FC4BEE1}" type="presParOf" srcId="{CE83B688-DEF8-2646-90E9-C08F8A3E70E7}" destId="{9C1F367D-4B7A-2E43-AB57-E2005CEC54C2}" srcOrd="5" destOrd="0" presId="urn:microsoft.com/office/officeart/2005/8/layout/cycle3"/>
    <dgm:cxn modelId="{28C8E178-0E71-C047-AD0F-AEABFCA1345B}" type="presParOf" srcId="{CE83B688-DEF8-2646-90E9-C08F8A3E70E7}" destId="{1DF87B89-7439-B148-B088-80277B1BDDD3}" srcOrd="6" destOrd="0" presId="urn:microsoft.com/office/officeart/2005/8/layout/cycle3"/>
    <dgm:cxn modelId="{9146D414-7A23-4F4B-9A87-29AB9EC6D80D}" type="presParOf" srcId="{CE83B688-DEF8-2646-90E9-C08F8A3E70E7}" destId="{93260571-C263-5C47-A419-401F437055EE}" srcOrd="7" destOrd="0" presId="urn:microsoft.com/office/officeart/2005/8/layout/cycle3"/>
    <dgm:cxn modelId="{A9919977-9C0A-EC42-B307-80C8C97C2706}" type="presParOf" srcId="{CE83B688-DEF8-2646-90E9-C08F8A3E70E7}" destId="{5A043805-F757-CF4A-9485-BE4798BC4994}" srcOrd="8" destOrd="0" presId="urn:microsoft.com/office/officeart/2005/8/layout/cycle3"/>
    <dgm:cxn modelId="{0DA40528-B32F-C947-9A0A-A3C5063BF2BE}" type="presParOf" srcId="{CE83B688-DEF8-2646-90E9-C08F8A3E70E7}" destId="{1A690F30-74B2-4847-B5F5-75A4E2E3AD9E}" srcOrd="9" destOrd="0" presId="urn:microsoft.com/office/officeart/2005/8/layout/cycle3"/>
    <dgm:cxn modelId="{0FC1F4CD-4D5E-0B48-AF45-3CEAA55813AF}" type="presParOf" srcId="{CE83B688-DEF8-2646-90E9-C08F8A3E70E7}" destId="{CAAC65CA-09FF-B642-B0C8-D19A7DEB4844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6D782B-3AE9-6341-8054-2A504A814F31}" type="doc">
      <dgm:prSet loTypeId="urn:microsoft.com/office/officeart/2005/8/layout/cycle3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kumimoji="1" lang="ja-JP" altLang="en-US"/>
        </a:p>
      </dgm:t>
    </dgm:pt>
    <dgm:pt modelId="{409F7A24-5637-5243-801D-289994206447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赤字</a:t>
          </a:r>
        </a:p>
      </dgm:t>
    </dgm:pt>
    <dgm:pt modelId="{2CE23994-248B-7D40-BED2-A70B6FE371A8}" type="parTrans" cxnId="{577D96AE-07E1-BE47-813A-2058F110D0DD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7224B14F-880B-634F-A526-C4E35D50D1E3}" type="sibTrans" cxnId="{577D96AE-07E1-BE47-813A-2058F110D0DD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16418477-AF6E-7849-9D54-63386E430A36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自国通貨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減価</a:t>
          </a:r>
        </a:p>
      </dgm:t>
    </dgm:pt>
    <dgm:pt modelId="{9C786919-0F2A-6E4A-AEDF-D6709759B767}" type="parTrans" cxnId="{5B2D995C-4229-074D-A910-AF2E78F79A75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E53BBC97-B433-8C4B-B689-19334FF5366E}" type="sibTrans" cxnId="{5B2D995C-4229-074D-A910-AF2E78F79A75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D56B6BE1-E4D0-394D-A3D2-CB5AA4024D55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</a:p>
      </dgm:t>
    </dgm:pt>
    <dgm:pt modelId="{659AC1EE-6628-824A-B823-52F387E01033}" type="parTrans" cxnId="{9D35A697-CD78-E84D-ACD4-57979380DB8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486BE965-D079-354A-8A11-71412DC2A78D}" type="sibTrans" cxnId="{9D35A697-CD78-E84D-ACD4-57979380DB8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4326A752-E400-4E49-AD2E-BF0AD97A978D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黒字</a:t>
          </a:r>
        </a:p>
      </dgm:t>
    </dgm:pt>
    <dgm:pt modelId="{8C968CE8-34FF-894B-AA65-CFAA90D070D2}" type="parTrans" cxnId="{6C30B45B-8310-254F-9AAE-B9AD3AED63A7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2D7F8951-F8BF-6143-9646-1A76370E1C63}" type="sibTrans" cxnId="{6C30B45B-8310-254F-9AAE-B9AD3AED63A7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3C65A1CA-C348-8A46-854D-CB8C83D8A112}">
      <dgm:prSet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</a:p>
      </dgm:t>
    </dgm:pt>
    <dgm:pt modelId="{DDA734B1-D250-FF4A-9EFE-180B0BD9CCAF}" type="parTrans" cxnId="{E7FF6F82-93E0-D245-A83F-620DB99CE8D3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2F07F163-A262-EB47-B21A-0E2F0E12D06A}" type="sibTrans" cxnId="{E7FF6F82-93E0-D245-A83F-620DB99CE8D3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D944F075-B569-C445-9131-D0B813F81D95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自国通貨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増価</a:t>
          </a:r>
        </a:p>
      </dgm:t>
    </dgm:pt>
    <dgm:pt modelId="{2AB657AE-DE05-6642-A47F-D076DBCFE7BC}" type="parTrans" cxnId="{2A45D999-46E5-E141-A889-E7E6724A1BE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86A5A618-D0E0-BF4D-8C48-0331F40F0028}" type="sibTrans" cxnId="{2A45D999-46E5-E141-A889-E7E6724A1BE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CA38CAAF-4126-F842-9139-795E9B492809}" type="pres">
      <dgm:prSet presAssocID="{056D782B-3AE9-6341-8054-2A504A814F31}" presName="Name0" presStyleCnt="0">
        <dgm:presLayoutVars>
          <dgm:dir/>
          <dgm:resizeHandles val="exact"/>
        </dgm:presLayoutVars>
      </dgm:prSet>
      <dgm:spPr/>
    </dgm:pt>
    <dgm:pt modelId="{CE83B688-DEF8-2646-90E9-C08F8A3E70E7}" type="pres">
      <dgm:prSet presAssocID="{056D782B-3AE9-6341-8054-2A504A814F31}" presName="cycle" presStyleCnt="0"/>
      <dgm:spPr/>
    </dgm:pt>
    <dgm:pt modelId="{D94B10FC-86A6-FF4A-A1B2-1E5A15A9B8EC}" type="pres">
      <dgm:prSet presAssocID="{409F7A24-5637-5243-801D-289994206447}" presName="nodeFirstNode" presStyleLbl="node1" presStyleIdx="0" presStyleCnt="6">
        <dgm:presLayoutVars>
          <dgm:bulletEnabled val="1"/>
        </dgm:presLayoutVars>
      </dgm:prSet>
      <dgm:spPr/>
    </dgm:pt>
    <dgm:pt modelId="{19409FAB-9ED0-024C-9BD3-FA3940064CB5}" type="pres">
      <dgm:prSet presAssocID="{7224B14F-880B-634F-A526-C4E35D50D1E3}" presName="sibTransFirstNode" presStyleLbl="bgShp" presStyleIdx="0" presStyleCnt="1"/>
      <dgm:spPr/>
    </dgm:pt>
    <dgm:pt modelId="{A6D2C092-8BDD-184F-B60A-95002E1C617A}" type="pres">
      <dgm:prSet presAssocID="{16418477-AF6E-7849-9D54-63386E430A36}" presName="nodeFollowingNodes" presStyleLbl="node1" presStyleIdx="1" presStyleCnt="6">
        <dgm:presLayoutVars>
          <dgm:bulletEnabled val="1"/>
        </dgm:presLayoutVars>
      </dgm:prSet>
      <dgm:spPr/>
    </dgm:pt>
    <dgm:pt modelId="{659FE536-1F1D-504E-930D-115BE2D22DCB}" type="pres">
      <dgm:prSet presAssocID="{D56B6BE1-E4D0-394D-A3D2-CB5AA4024D55}" presName="nodeFollowingNodes" presStyleLbl="node1" presStyleIdx="2" presStyleCnt="6">
        <dgm:presLayoutVars>
          <dgm:bulletEnabled val="1"/>
        </dgm:presLayoutVars>
      </dgm:prSet>
      <dgm:spPr/>
    </dgm:pt>
    <dgm:pt modelId="{1DF87B89-7439-B148-B088-80277B1BDDD3}" type="pres">
      <dgm:prSet presAssocID="{4326A752-E400-4E49-AD2E-BF0AD97A978D}" presName="nodeFollowingNodes" presStyleLbl="node1" presStyleIdx="3" presStyleCnt="6">
        <dgm:presLayoutVars>
          <dgm:bulletEnabled val="1"/>
        </dgm:presLayoutVars>
      </dgm:prSet>
      <dgm:spPr/>
    </dgm:pt>
    <dgm:pt modelId="{93260571-C263-5C47-A419-401F437055EE}" type="pres">
      <dgm:prSet presAssocID="{D944F075-B569-C445-9131-D0B813F81D95}" presName="nodeFollowingNodes" presStyleLbl="node1" presStyleIdx="4" presStyleCnt="6">
        <dgm:presLayoutVars>
          <dgm:bulletEnabled val="1"/>
        </dgm:presLayoutVars>
      </dgm:prSet>
      <dgm:spPr/>
    </dgm:pt>
    <dgm:pt modelId="{5A043805-F757-CF4A-9485-BE4798BC4994}" type="pres">
      <dgm:prSet presAssocID="{3C65A1CA-C348-8A46-854D-CB8C83D8A112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F396E149-1945-6244-9732-13C1A68DBD32}" type="presOf" srcId="{7224B14F-880B-634F-A526-C4E35D50D1E3}" destId="{19409FAB-9ED0-024C-9BD3-FA3940064CB5}" srcOrd="0" destOrd="0" presId="urn:microsoft.com/office/officeart/2005/8/layout/cycle3"/>
    <dgm:cxn modelId="{6C30B45B-8310-254F-9AAE-B9AD3AED63A7}" srcId="{056D782B-3AE9-6341-8054-2A504A814F31}" destId="{4326A752-E400-4E49-AD2E-BF0AD97A978D}" srcOrd="3" destOrd="0" parTransId="{8C968CE8-34FF-894B-AA65-CFAA90D070D2}" sibTransId="{2D7F8951-F8BF-6143-9646-1A76370E1C63}"/>
    <dgm:cxn modelId="{5B2D995C-4229-074D-A910-AF2E78F79A75}" srcId="{056D782B-3AE9-6341-8054-2A504A814F31}" destId="{16418477-AF6E-7849-9D54-63386E430A36}" srcOrd="1" destOrd="0" parTransId="{9C786919-0F2A-6E4A-AEDF-D6709759B767}" sibTransId="{E53BBC97-B433-8C4B-B689-19334FF5366E}"/>
    <dgm:cxn modelId="{30480581-8EA3-E94D-B8EF-456AAE914C33}" type="presOf" srcId="{D944F075-B569-C445-9131-D0B813F81D95}" destId="{93260571-C263-5C47-A419-401F437055EE}" srcOrd="0" destOrd="0" presId="urn:microsoft.com/office/officeart/2005/8/layout/cycle3"/>
    <dgm:cxn modelId="{E7FF6F82-93E0-D245-A83F-620DB99CE8D3}" srcId="{056D782B-3AE9-6341-8054-2A504A814F31}" destId="{3C65A1CA-C348-8A46-854D-CB8C83D8A112}" srcOrd="5" destOrd="0" parTransId="{DDA734B1-D250-FF4A-9EFE-180B0BD9CCAF}" sibTransId="{2F07F163-A262-EB47-B21A-0E2F0E12D06A}"/>
    <dgm:cxn modelId="{FA7A1992-F934-EC48-A675-5328B572D63D}" type="presOf" srcId="{3C65A1CA-C348-8A46-854D-CB8C83D8A112}" destId="{5A043805-F757-CF4A-9485-BE4798BC4994}" srcOrd="0" destOrd="0" presId="urn:microsoft.com/office/officeart/2005/8/layout/cycle3"/>
    <dgm:cxn modelId="{E70A7B96-E081-FD44-8939-886A69748AA8}" type="presOf" srcId="{056D782B-3AE9-6341-8054-2A504A814F31}" destId="{CA38CAAF-4126-F842-9139-795E9B492809}" srcOrd="0" destOrd="0" presId="urn:microsoft.com/office/officeart/2005/8/layout/cycle3"/>
    <dgm:cxn modelId="{9D35A697-CD78-E84D-ACD4-57979380DB8E}" srcId="{056D782B-3AE9-6341-8054-2A504A814F31}" destId="{D56B6BE1-E4D0-394D-A3D2-CB5AA4024D55}" srcOrd="2" destOrd="0" parTransId="{659AC1EE-6628-824A-B823-52F387E01033}" sibTransId="{486BE965-D079-354A-8A11-71412DC2A78D}"/>
    <dgm:cxn modelId="{2A45D999-46E5-E141-A889-E7E6724A1BEE}" srcId="{056D782B-3AE9-6341-8054-2A504A814F31}" destId="{D944F075-B569-C445-9131-D0B813F81D95}" srcOrd="4" destOrd="0" parTransId="{2AB657AE-DE05-6642-A47F-D076DBCFE7BC}" sibTransId="{86A5A618-D0E0-BF4D-8C48-0331F40F0028}"/>
    <dgm:cxn modelId="{33A28EA5-8B88-D546-A985-A8877D4AEA3C}" type="presOf" srcId="{D56B6BE1-E4D0-394D-A3D2-CB5AA4024D55}" destId="{659FE536-1F1D-504E-930D-115BE2D22DCB}" srcOrd="0" destOrd="0" presId="urn:microsoft.com/office/officeart/2005/8/layout/cycle3"/>
    <dgm:cxn modelId="{577D96AE-07E1-BE47-813A-2058F110D0DD}" srcId="{056D782B-3AE9-6341-8054-2A504A814F31}" destId="{409F7A24-5637-5243-801D-289994206447}" srcOrd="0" destOrd="0" parTransId="{2CE23994-248B-7D40-BED2-A70B6FE371A8}" sibTransId="{7224B14F-880B-634F-A526-C4E35D50D1E3}"/>
    <dgm:cxn modelId="{A9CF93BE-2672-0946-970F-8E97FD0DAD8E}" type="presOf" srcId="{4326A752-E400-4E49-AD2E-BF0AD97A978D}" destId="{1DF87B89-7439-B148-B088-80277B1BDDD3}" srcOrd="0" destOrd="0" presId="urn:microsoft.com/office/officeart/2005/8/layout/cycle3"/>
    <dgm:cxn modelId="{43135BC3-C5A6-F245-97FA-076300E7A0F9}" type="presOf" srcId="{409F7A24-5637-5243-801D-289994206447}" destId="{D94B10FC-86A6-FF4A-A1B2-1E5A15A9B8EC}" srcOrd="0" destOrd="0" presId="urn:microsoft.com/office/officeart/2005/8/layout/cycle3"/>
    <dgm:cxn modelId="{72F39FC9-1C82-2D4A-A2D9-88C1BB9022EF}" type="presOf" srcId="{16418477-AF6E-7849-9D54-63386E430A36}" destId="{A6D2C092-8BDD-184F-B60A-95002E1C617A}" srcOrd="0" destOrd="0" presId="urn:microsoft.com/office/officeart/2005/8/layout/cycle3"/>
    <dgm:cxn modelId="{3874BEAC-FF92-A042-8B3B-5FC421D9B113}" type="presParOf" srcId="{CA38CAAF-4126-F842-9139-795E9B492809}" destId="{CE83B688-DEF8-2646-90E9-C08F8A3E70E7}" srcOrd="0" destOrd="0" presId="urn:microsoft.com/office/officeart/2005/8/layout/cycle3"/>
    <dgm:cxn modelId="{0E8F0E7D-A4FA-4545-B15E-4B033D2618DB}" type="presParOf" srcId="{CE83B688-DEF8-2646-90E9-C08F8A3E70E7}" destId="{D94B10FC-86A6-FF4A-A1B2-1E5A15A9B8EC}" srcOrd="0" destOrd="0" presId="urn:microsoft.com/office/officeart/2005/8/layout/cycle3"/>
    <dgm:cxn modelId="{CF08E2E7-584C-6247-B16B-C80F758DBF89}" type="presParOf" srcId="{CE83B688-DEF8-2646-90E9-C08F8A3E70E7}" destId="{19409FAB-9ED0-024C-9BD3-FA3940064CB5}" srcOrd="1" destOrd="0" presId="urn:microsoft.com/office/officeart/2005/8/layout/cycle3"/>
    <dgm:cxn modelId="{9C04867F-3EB1-FB40-9BCB-4C9BB2D5FF0B}" type="presParOf" srcId="{CE83B688-DEF8-2646-90E9-C08F8A3E70E7}" destId="{A6D2C092-8BDD-184F-B60A-95002E1C617A}" srcOrd="2" destOrd="0" presId="urn:microsoft.com/office/officeart/2005/8/layout/cycle3"/>
    <dgm:cxn modelId="{39E1BE29-A379-1B4C-82D2-458FC4CF61F2}" type="presParOf" srcId="{CE83B688-DEF8-2646-90E9-C08F8A3E70E7}" destId="{659FE536-1F1D-504E-930D-115BE2D22DCB}" srcOrd="3" destOrd="0" presId="urn:microsoft.com/office/officeart/2005/8/layout/cycle3"/>
    <dgm:cxn modelId="{3D8EFCEA-529F-D64D-AB6E-93C194A0A067}" type="presParOf" srcId="{CE83B688-DEF8-2646-90E9-C08F8A3E70E7}" destId="{1DF87B89-7439-B148-B088-80277B1BDDD3}" srcOrd="4" destOrd="0" presId="urn:microsoft.com/office/officeart/2005/8/layout/cycle3"/>
    <dgm:cxn modelId="{BC921CB3-193E-244B-8953-C9FB142FA41F}" type="presParOf" srcId="{CE83B688-DEF8-2646-90E9-C08F8A3E70E7}" destId="{93260571-C263-5C47-A419-401F437055EE}" srcOrd="5" destOrd="0" presId="urn:microsoft.com/office/officeart/2005/8/layout/cycle3"/>
    <dgm:cxn modelId="{748B3F98-CE36-0B46-9ABF-1E9069495B16}" type="presParOf" srcId="{CE83B688-DEF8-2646-90E9-C08F8A3E70E7}" destId="{5A043805-F757-CF4A-9485-BE4798BC4994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6D782B-3AE9-6341-8054-2A504A814F31}" type="doc">
      <dgm:prSet loTypeId="urn:microsoft.com/office/officeart/2005/8/layout/cycle3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kumimoji="1" lang="ja-JP" altLang="en-US"/>
        </a:p>
      </dgm:t>
    </dgm:pt>
    <dgm:pt modelId="{409F7A24-5637-5243-801D-289994206447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赤字</a:t>
          </a:r>
        </a:p>
      </dgm:t>
    </dgm:pt>
    <dgm:pt modelId="{2CE23994-248B-7D40-BED2-A70B6FE371A8}" type="parTrans" cxnId="{577D96AE-07E1-BE47-813A-2058F110D0DD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7224B14F-880B-634F-A526-C4E35D50D1E3}" type="sibTrans" cxnId="{577D96AE-07E1-BE47-813A-2058F110D0DD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16418477-AF6E-7849-9D54-63386E430A36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自国通貨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減価</a:t>
          </a:r>
        </a:p>
      </dgm:t>
    </dgm:pt>
    <dgm:pt modelId="{9C786919-0F2A-6E4A-AEDF-D6709759B767}" type="parTrans" cxnId="{5B2D995C-4229-074D-A910-AF2E78F79A75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E53BBC97-B433-8C4B-B689-19334FF5366E}" type="sibTrans" cxnId="{5B2D995C-4229-074D-A910-AF2E78F79A75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D56B6BE1-E4D0-394D-A3D2-CB5AA4024D55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</a:p>
      </dgm:t>
    </dgm:pt>
    <dgm:pt modelId="{659AC1EE-6628-824A-B823-52F387E01033}" type="parTrans" cxnId="{9D35A697-CD78-E84D-ACD4-57979380DB8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486BE965-D079-354A-8A11-71412DC2A78D}" type="sibTrans" cxnId="{9D35A697-CD78-E84D-ACD4-57979380DB8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4326A752-E400-4E49-AD2E-BF0AD97A978D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黒字</a:t>
          </a:r>
        </a:p>
      </dgm:t>
    </dgm:pt>
    <dgm:pt modelId="{8C968CE8-34FF-894B-AA65-CFAA90D070D2}" type="parTrans" cxnId="{6C30B45B-8310-254F-9AAE-B9AD3AED63A7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2D7F8951-F8BF-6143-9646-1A76370E1C63}" type="sibTrans" cxnId="{6C30B45B-8310-254F-9AAE-B9AD3AED63A7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3C65A1CA-C348-8A46-854D-CB8C83D8A112}">
      <dgm:prSet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</a:p>
      </dgm:t>
    </dgm:pt>
    <dgm:pt modelId="{DDA734B1-D250-FF4A-9EFE-180B0BD9CCAF}" type="parTrans" cxnId="{E7FF6F82-93E0-D245-A83F-620DB99CE8D3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2F07F163-A262-EB47-B21A-0E2F0E12D06A}" type="sibTrans" cxnId="{E7FF6F82-93E0-D245-A83F-620DB99CE8D3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D944F075-B569-C445-9131-D0B813F81D95}">
      <dgm:prSet phldrT="[テキスト]"/>
      <dgm:spPr>
        <a:ln w="12700"/>
      </dgm:spPr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自国通貨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増価</a:t>
          </a:r>
        </a:p>
      </dgm:t>
    </dgm:pt>
    <dgm:pt modelId="{2AB657AE-DE05-6642-A47F-D076DBCFE7BC}" type="parTrans" cxnId="{2A45D999-46E5-E141-A889-E7E6724A1BE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86A5A618-D0E0-BF4D-8C48-0331F40F0028}" type="sibTrans" cxnId="{2A45D999-46E5-E141-A889-E7E6724A1BEE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150E95FE-AE33-A642-99D7-7C8C0DE7CD31}">
      <dgm:prSet phldrT="[テキスト]"/>
      <dgm:spPr/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為替介入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（自国通貨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買い</a:t>
          </a: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</a:p>
      </dgm:t>
    </dgm:pt>
    <dgm:pt modelId="{EC6909A9-C511-E145-A8C9-66B44B73CDF6}" type="parTrans" cxnId="{EC08BC8B-D63D-8241-9364-9CEC88E831D0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7885C853-F0A8-9945-BAF3-922D2F739A61}" type="sibTrans" cxnId="{EC08BC8B-D63D-8241-9364-9CEC88E831D0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F5B71743-8B40-BD49-A0B5-0BAA486D6309}">
      <dgm:prSet phldrT="[テキスト]"/>
      <dgm:spPr/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物価安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（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デフレ</a:t>
          </a: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</a:p>
      </dgm:t>
    </dgm:pt>
    <dgm:pt modelId="{3F5CF5F6-2BAA-9348-B1C2-A8CF9B5B146F}" type="parTrans" cxnId="{FD3C2709-EEC6-0542-8AAE-2FFA007E9F2F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C30DF167-4C29-834B-94C1-D470C6CABABD}" type="sibTrans" cxnId="{FD3C2709-EEC6-0542-8AAE-2FFA007E9F2F}">
      <dgm:prSet/>
      <dgm:spPr/>
      <dgm:t>
        <a:bodyPr/>
        <a:lstStyle/>
        <a:p>
          <a:endParaRPr kumimoji="1" lang="ja-JP" altLang="en-US">
            <a:latin typeface="Hiragino Sans W4" panose="020B0400000000000000" pitchFamily="34" charset="-128"/>
            <a:ea typeface="Hiragino Sans W4" panose="020B0400000000000000" pitchFamily="34" charset="-128"/>
          </a:endParaRPr>
        </a:p>
      </dgm:t>
    </dgm:pt>
    <dgm:pt modelId="{BA5ECC91-9983-BD40-962B-0EC72B979C3A}">
      <dgm:prSet phldrT="[テキスト]"/>
      <dgm:spPr/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為替介入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（自国通貨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売り</a:t>
          </a: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  <a:endParaRPr kumimoji="1" lang="ja-JP" altLang="en-US"/>
        </a:p>
      </dgm:t>
    </dgm:pt>
    <dgm:pt modelId="{31B340BA-A6FC-3C41-A0C1-D20AD2AF5B4D}" type="parTrans" cxnId="{7B939511-81F2-0F48-82E4-6FCC20198577}">
      <dgm:prSet/>
      <dgm:spPr/>
      <dgm:t>
        <a:bodyPr/>
        <a:lstStyle/>
        <a:p>
          <a:endParaRPr kumimoji="1" lang="ja-JP" altLang="en-US"/>
        </a:p>
      </dgm:t>
    </dgm:pt>
    <dgm:pt modelId="{A1913B1A-8632-EF40-983B-9E7FCCBBB500}" type="sibTrans" cxnId="{7B939511-81F2-0F48-82E4-6FCC20198577}">
      <dgm:prSet/>
      <dgm:spPr/>
      <dgm:t>
        <a:bodyPr/>
        <a:lstStyle/>
        <a:p>
          <a:endParaRPr kumimoji="1" lang="ja-JP" altLang="en-US"/>
        </a:p>
      </dgm:t>
    </dgm:pt>
    <dgm:pt modelId="{CFB442CC-5F13-104B-A89F-57261D8654A7}">
      <dgm:prSet phldrT="[テキスト]"/>
      <dgm:spPr/>
      <dgm:t>
        <a:bodyPr/>
        <a:lstStyle/>
        <a:p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物価安</a:t>
          </a:r>
          <a:br>
            <a:rPr kumimoji="1" lang="en-US" altLang="ja-JP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（</a:t>
          </a:r>
          <a:r>
            <a:rPr kumimoji="1" lang="ja-JP" altLang="en-US" b="1">
              <a:latin typeface="Hiragino Sans W4" panose="020B0400000000000000" pitchFamily="34" charset="-128"/>
              <a:ea typeface="Hiragino Sans W4" panose="020B0400000000000000" pitchFamily="34" charset="-128"/>
            </a:rPr>
            <a:t>インフレ</a:t>
          </a:r>
          <a:r>
            <a:rPr kumimoji="1" lang="ja-JP" altLang="en-US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  <a:endParaRPr kumimoji="1" lang="ja-JP" altLang="en-US"/>
        </a:p>
      </dgm:t>
    </dgm:pt>
    <dgm:pt modelId="{562C3188-BA85-BC45-BC2B-FE8F621CBFE3}" type="parTrans" cxnId="{0545382B-1D99-0A49-9317-63E10D0BD75C}">
      <dgm:prSet/>
      <dgm:spPr/>
      <dgm:t>
        <a:bodyPr/>
        <a:lstStyle/>
        <a:p>
          <a:endParaRPr kumimoji="1" lang="ja-JP" altLang="en-US"/>
        </a:p>
      </dgm:t>
    </dgm:pt>
    <dgm:pt modelId="{4E6A1028-A3F1-6246-BE36-12916BB8439A}" type="sibTrans" cxnId="{0545382B-1D99-0A49-9317-63E10D0BD75C}">
      <dgm:prSet/>
      <dgm:spPr/>
      <dgm:t>
        <a:bodyPr/>
        <a:lstStyle/>
        <a:p>
          <a:endParaRPr kumimoji="1" lang="ja-JP" altLang="en-US"/>
        </a:p>
      </dgm:t>
    </dgm:pt>
    <dgm:pt modelId="{CA38CAAF-4126-F842-9139-795E9B492809}" type="pres">
      <dgm:prSet presAssocID="{056D782B-3AE9-6341-8054-2A504A814F31}" presName="Name0" presStyleCnt="0">
        <dgm:presLayoutVars>
          <dgm:dir/>
          <dgm:resizeHandles val="exact"/>
        </dgm:presLayoutVars>
      </dgm:prSet>
      <dgm:spPr/>
    </dgm:pt>
    <dgm:pt modelId="{CE83B688-DEF8-2646-90E9-C08F8A3E70E7}" type="pres">
      <dgm:prSet presAssocID="{056D782B-3AE9-6341-8054-2A504A814F31}" presName="cycle" presStyleCnt="0"/>
      <dgm:spPr/>
    </dgm:pt>
    <dgm:pt modelId="{D94B10FC-86A6-FF4A-A1B2-1E5A15A9B8EC}" type="pres">
      <dgm:prSet presAssocID="{409F7A24-5637-5243-801D-289994206447}" presName="nodeFirstNode" presStyleLbl="node1" presStyleIdx="0" presStyleCnt="10">
        <dgm:presLayoutVars>
          <dgm:bulletEnabled val="1"/>
        </dgm:presLayoutVars>
      </dgm:prSet>
      <dgm:spPr/>
    </dgm:pt>
    <dgm:pt modelId="{19409FAB-9ED0-024C-9BD3-FA3940064CB5}" type="pres">
      <dgm:prSet presAssocID="{7224B14F-880B-634F-A526-C4E35D50D1E3}" presName="sibTransFirstNode" presStyleLbl="bgShp" presStyleIdx="0" presStyleCnt="1"/>
      <dgm:spPr/>
    </dgm:pt>
    <dgm:pt modelId="{A6D2C092-8BDD-184F-B60A-95002E1C617A}" type="pres">
      <dgm:prSet presAssocID="{16418477-AF6E-7849-9D54-63386E430A36}" presName="nodeFollowingNodes" presStyleLbl="node1" presStyleIdx="1" presStyleCnt="10">
        <dgm:presLayoutVars>
          <dgm:bulletEnabled val="1"/>
        </dgm:presLayoutVars>
      </dgm:prSet>
      <dgm:spPr/>
    </dgm:pt>
    <dgm:pt modelId="{A9FA1A01-3B6D-DA4A-956A-7887C3F0F839}" type="pres">
      <dgm:prSet presAssocID="{150E95FE-AE33-A642-99D7-7C8C0DE7CD31}" presName="nodeFollowingNodes" presStyleLbl="node1" presStyleIdx="2" presStyleCnt="10">
        <dgm:presLayoutVars>
          <dgm:bulletEnabled val="1"/>
        </dgm:presLayoutVars>
      </dgm:prSet>
      <dgm:spPr/>
    </dgm:pt>
    <dgm:pt modelId="{BEEC44DB-1D2C-5A47-B786-9AAE6963B36A}" type="pres">
      <dgm:prSet presAssocID="{F5B71743-8B40-BD49-A0B5-0BAA486D6309}" presName="nodeFollowingNodes" presStyleLbl="node1" presStyleIdx="3" presStyleCnt="10">
        <dgm:presLayoutVars>
          <dgm:bulletEnabled val="1"/>
        </dgm:presLayoutVars>
      </dgm:prSet>
      <dgm:spPr/>
    </dgm:pt>
    <dgm:pt modelId="{659FE536-1F1D-504E-930D-115BE2D22DCB}" type="pres">
      <dgm:prSet presAssocID="{D56B6BE1-E4D0-394D-A3D2-CB5AA4024D55}" presName="nodeFollowingNodes" presStyleLbl="node1" presStyleIdx="4" presStyleCnt="10">
        <dgm:presLayoutVars>
          <dgm:bulletEnabled val="1"/>
        </dgm:presLayoutVars>
      </dgm:prSet>
      <dgm:spPr/>
    </dgm:pt>
    <dgm:pt modelId="{1DF87B89-7439-B148-B088-80277B1BDDD3}" type="pres">
      <dgm:prSet presAssocID="{4326A752-E400-4E49-AD2E-BF0AD97A978D}" presName="nodeFollowingNodes" presStyleLbl="node1" presStyleIdx="5" presStyleCnt="10">
        <dgm:presLayoutVars>
          <dgm:bulletEnabled val="1"/>
        </dgm:presLayoutVars>
      </dgm:prSet>
      <dgm:spPr/>
    </dgm:pt>
    <dgm:pt modelId="{93260571-C263-5C47-A419-401F437055EE}" type="pres">
      <dgm:prSet presAssocID="{D944F075-B569-C445-9131-D0B813F81D95}" presName="nodeFollowingNodes" presStyleLbl="node1" presStyleIdx="6" presStyleCnt="10">
        <dgm:presLayoutVars>
          <dgm:bulletEnabled val="1"/>
        </dgm:presLayoutVars>
      </dgm:prSet>
      <dgm:spPr/>
    </dgm:pt>
    <dgm:pt modelId="{04F4F7BC-8951-3C4E-98FF-8EBAE9FEC36A}" type="pres">
      <dgm:prSet presAssocID="{BA5ECC91-9983-BD40-962B-0EC72B979C3A}" presName="nodeFollowingNodes" presStyleLbl="node1" presStyleIdx="7" presStyleCnt="10">
        <dgm:presLayoutVars>
          <dgm:bulletEnabled val="1"/>
        </dgm:presLayoutVars>
      </dgm:prSet>
      <dgm:spPr/>
    </dgm:pt>
    <dgm:pt modelId="{501E3E8F-6299-5846-A6AE-B9980DA69887}" type="pres">
      <dgm:prSet presAssocID="{CFB442CC-5F13-104B-A89F-57261D8654A7}" presName="nodeFollowingNodes" presStyleLbl="node1" presStyleIdx="8" presStyleCnt="10">
        <dgm:presLayoutVars>
          <dgm:bulletEnabled val="1"/>
        </dgm:presLayoutVars>
      </dgm:prSet>
      <dgm:spPr/>
    </dgm:pt>
    <dgm:pt modelId="{5A043805-F757-CF4A-9485-BE4798BC4994}" type="pres">
      <dgm:prSet presAssocID="{3C65A1CA-C348-8A46-854D-CB8C83D8A112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0D5FF305-F987-7643-B9FF-22AA3736C43E}" type="presOf" srcId="{3C65A1CA-C348-8A46-854D-CB8C83D8A112}" destId="{5A043805-F757-CF4A-9485-BE4798BC4994}" srcOrd="0" destOrd="0" presId="urn:microsoft.com/office/officeart/2005/8/layout/cycle3"/>
    <dgm:cxn modelId="{FD3C2709-EEC6-0542-8AAE-2FFA007E9F2F}" srcId="{056D782B-3AE9-6341-8054-2A504A814F31}" destId="{F5B71743-8B40-BD49-A0B5-0BAA486D6309}" srcOrd="3" destOrd="0" parTransId="{3F5CF5F6-2BAA-9348-B1C2-A8CF9B5B146F}" sibTransId="{C30DF167-4C29-834B-94C1-D470C6CABABD}"/>
    <dgm:cxn modelId="{9A6EE50E-8373-9346-A08C-7D4330DF595D}" type="presOf" srcId="{F5B71743-8B40-BD49-A0B5-0BAA486D6309}" destId="{BEEC44DB-1D2C-5A47-B786-9AAE6963B36A}" srcOrd="0" destOrd="0" presId="urn:microsoft.com/office/officeart/2005/8/layout/cycle3"/>
    <dgm:cxn modelId="{5629BE10-8D91-E246-8BEF-6D9A89F725ED}" type="presOf" srcId="{409F7A24-5637-5243-801D-289994206447}" destId="{D94B10FC-86A6-FF4A-A1B2-1E5A15A9B8EC}" srcOrd="0" destOrd="0" presId="urn:microsoft.com/office/officeart/2005/8/layout/cycle3"/>
    <dgm:cxn modelId="{7B939511-81F2-0F48-82E4-6FCC20198577}" srcId="{056D782B-3AE9-6341-8054-2A504A814F31}" destId="{BA5ECC91-9983-BD40-962B-0EC72B979C3A}" srcOrd="7" destOrd="0" parTransId="{31B340BA-A6FC-3C41-A0C1-D20AD2AF5B4D}" sibTransId="{A1913B1A-8632-EF40-983B-9E7FCCBBB500}"/>
    <dgm:cxn modelId="{0545382B-1D99-0A49-9317-63E10D0BD75C}" srcId="{056D782B-3AE9-6341-8054-2A504A814F31}" destId="{CFB442CC-5F13-104B-A89F-57261D8654A7}" srcOrd="8" destOrd="0" parTransId="{562C3188-BA85-BC45-BC2B-FE8F621CBFE3}" sibTransId="{4E6A1028-A3F1-6246-BE36-12916BB8439A}"/>
    <dgm:cxn modelId="{6C30B45B-8310-254F-9AAE-B9AD3AED63A7}" srcId="{056D782B-3AE9-6341-8054-2A504A814F31}" destId="{4326A752-E400-4E49-AD2E-BF0AD97A978D}" srcOrd="5" destOrd="0" parTransId="{8C968CE8-34FF-894B-AA65-CFAA90D070D2}" sibTransId="{2D7F8951-F8BF-6143-9646-1A76370E1C63}"/>
    <dgm:cxn modelId="{5B2D995C-4229-074D-A910-AF2E78F79A75}" srcId="{056D782B-3AE9-6341-8054-2A504A814F31}" destId="{16418477-AF6E-7849-9D54-63386E430A36}" srcOrd="1" destOrd="0" parTransId="{9C786919-0F2A-6E4A-AEDF-D6709759B767}" sibTransId="{E53BBC97-B433-8C4B-B689-19334FF5366E}"/>
    <dgm:cxn modelId="{E540E460-C6D8-2241-9AEE-1DD9407F3DAC}" type="presOf" srcId="{4326A752-E400-4E49-AD2E-BF0AD97A978D}" destId="{1DF87B89-7439-B148-B088-80277B1BDDD3}" srcOrd="0" destOrd="0" presId="urn:microsoft.com/office/officeart/2005/8/layout/cycle3"/>
    <dgm:cxn modelId="{E7FF6F82-93E0-D245-A83F-620DB99CE8D3}" srcId="{056D782B-3AE9-6341-8054-2A504A814F31}" destId="{3C65A1CA-C348-8A46-854D-CB8C83D8A112}" srcOrd="9" destOrd="0" parTransId="{DDA734B1-D250-FF4A-9EFE-180B0BD9CCAF}" sibTransId="{2F07F163-A262-EB47-B21A-0E2F0E12D06A}"/>
    <dgm:cxn modelId="{EC08BC8B-D63D-8241-9364-9CEC88E831D0}" srcId="{056D782B-3AE9-6341-8054-2A504A814F31}" destId="{150E95FE-AE33-A642-99D7-7C8C0DE7CD31}" srcOrd="2" destOrd="0" parTransId="{EC6909A9-C511-E145-A8C9-66B44B73CDF6}" sibTransId="{7885C853-F0A8-9945-BAF3-922D2F739A61}"/>
    <dgm:cxn modelId="{E70A7B96-E081-FD44-8939-886A69748AA8}" type="presOf" srcId="{056D782B-3AE9-6341-8054-2A504A814F31}" destId="{CA38CAAF-4126-F842-9139-795E9B492809}" srcOrd="0" destOrd="0" presId="urn:microsoft.com/office/officeart/2005/8/layout/cycle3"/>
    <dgm:cxn modelId="{9D35A697-CD78-E84D-ACD4-57979380DB8E}" srcId="{056D782B-3AE9-6341-8054-2A504A814F31}" destId="{D56B6BE1-E4D0-394D-A3D2-CB5AA4024D55}" srcOrd="4" destOrd="0" parTransId="{659AC1EE-6628-824A-B823-52F387E01033}" sibTransId="{486BE965-D079-354A-8A11-71412DC2A78D}"/>
    <dgm:cxn modelId="{2A45D999-46E5-E141-A889-E7E6724A1BEE}" srcId="{056D782B-3AE9-6341-8054-2A504A814F31}" destId="{D944F075-B569-C445-9131-D0B813F81D95}" srcOrd="6" destOrd="0" parTransId="{2AB657AE-DE05-6642-A47F-D076DBCFE7BC}" sibTransId="{86A5A618-D0E0-BF4D-8C48-0331F40F0028}"/>
    <dgm:cxn modelId="{31DA55A3-48E9-F445-9BF3-C283ADCE42BB}" type="presOf" srcId="{7224B14F-880B-634F-A526-C4E35D50D1E3}" destId="{19409FAB-9ED0-024C-9BD3-FA3940064CB5}" srcOrd="0" destOrd="0" presId="urn:microsoft.com/office/officeart/2005/8/layout/cycle3"/>
    <dgm:cxn modelId="{577D96AE-07E1-BE47-813A-2058F110D0DD}" srcId="{056D782B-3AE9-6341-8054-2A504A814F31}" destId="{409F7A24-5637-5243-801D-289994206447}" srcOrd="0" destOrd="0" parTransId="{2CE23994-248B-7D40-BED2-A70B6FE371A8}" sibTransId="{7224B14F-880B-634F-A526-C4E35D50D1E3}"/>
    <dgm:cxn modelId="{085C62B9-803A-BB44-955F-9A403EDE118A}" type="presOf" srcId="{CFB442CC-5F13-104B-A89F-57261D8654A7}" destId="{501E3E8F-6299-5846-A6AE-B9980DA69887}" srcOrd="0" destOrd="0" presId="urn:microsoft.com/office/officeart/2005/8/layout/cycle3"/>
    <dgm:cxn modelId="{A8E021BE-F7DC-784F-95D1-8BF63A352D4E}" type="presOf" srcId="{BA5ECC91-9983-BD40-962B-0EC72B979C3A}" destId="{04F4F7BC-8951-3C4E-98FF-8EBAE9FEC36A}" srcOrd="0" destOrd="0" presId="urn:microsoft.com/office/officeart/2005/8/layout/cycle3"/>
    <dgm:cxn modelId="{FAD4C6CC-7452-7842-9A09-50EE6440BBBB}" type="presOf" srcId="{D56B6BE1-E4D0-394D-A3D2-CB5AA4024D55}" destId="{659FE536-1F1D-504E-930D-115BE2D22DCB}" srcOrd="0" destOrd="0" presId="urn:microsoft.com/office/officeart/2005/8/layout/cycle3"/>
    <dgm:cxn modelId="{6C3A16DC-BBB9-A841-BABA-7A650CFE3089}" type="presOf" srcId="{16418477-AF6E-7849-9D54-63386E430A36}" destId="{A6D2C092-8BDD-184F-B60A-95002E1C617A}" srcOrd="0" destOrd="0" presId="urn:microsoft.com/office/officeart/2005/8/layout/cycle3"/>
    <dgm:cxn modelId="{7AAD59DE-CC1F-F946-BAFF-6DD5BBFBE74E}" type="presOf" srcId="{D944F075-B569-C445-9131-D0B813F81D95}" destId="{93260571-C263-5C47-A419-401F437055EE}" srcOrd="0" destOrd="0" presId="urn:microsoft.com/office/officeart/2005/8/layout/cycle3"/>
    <dgm:cxn modelId="{90F148E3-9E87-654A-AF60-CF1E76977CCB}" type="presOf" srcId="{150E95FE-AE33-A642-99D7-7C8C0DE7CD31}" destId="{A9FA1A01-3B6D-DA4A-956A-7887C3F0F839}" srcOrd="0" destOrd="0" presId="urn:microsoft.com/office/officeart/2005/8/layout/cycle3"/>
    <dgm:cxn modelId="{AD928F1F-388B-AB4D-8ED2-76DCF82C2503}" type="presParOf" srcId="{CA38CAAF-4126-F842-9139-795E9B492809}" destId="{CE83B688-DEF8-2646-90E9-C08F8A3E70E7}" srcOrd="0" destOrd="0" presId="urn:microsoft.com/office/officeart/2005/8/layout/cycle3"/>
    <dgm:cxn modelId="{C411A99B-1C0C-2F45-B004-A9F4021D317F}" type="presParOf" srcId="{CE83B688-DEF8-2646-90E9-C08F8A3E70E7}" destId="{D94B10FC-86A6-FF4A-A1B2-1E5A15A9B8EC}" srcOrd="0" destOrd="0" presId="urn:microsoft.com/office/officeart/2005/8/layout/cycle3"/>
    <dgm:cxn modelId="{ACE88E7D-80F2-DA43-96D1-AFFD4F053F93}" type="presParOf" srcId="{CE83B688-DEF8-2646-90E9-C08F8A3E70E7}" destId="{19409FAB-9ED0-024C-9BD3-FA3940064CB5}" srcOrd="1" destOrd="0" presId="urn:microsoft.com/office/officeart/2005/8/layout/cycle3"/>
    <dgm:cxn modelId="{33FE5165-AA7D-A044-BD8D-48C862C7E739}" type="presParOf" srcId="{CE83B688-DEF8-2646-90E9-C08F8A3E70E7}" destId="{A6D2C092-8BDD-184F-B60A-95002E1C617A}" srcOrd="2" destOrd="0" presId="urn:microsoft.com/office/officeart/2005/8/layout/cycle3"/>
    <dgm:cxn modelId="{2ACC937F-B8D9-1143-A9EF-8D12E9666B3C}" type="presParOf" srcId="{CE83B688-DEF8-2646-90E9-C08F8A3E70E7}" destId="{A9FA1A01-3B6D-DA4A-956A-7887C3F0F839}" srcOrd="3" destOrd="0" presId="urn:microsoft.com/office/officeart/2005/8/layout/cycle3"/>
    <dgm:cxn modelId="{F5E0D9AE-5A4A-8049-9AE6-1461BE9634BF}" type="presParOf" srcId="{CE83B688-DEF8-2646-90E9-C08F8A3E70E7}" destId="{BEEC44DB-1D2C-5A47-B786-9AAE6963B36A}" srcOrd="4" destOrd="0" presId="urn:microsoft.com/office/officeart/2005/8/layout/cycle3"/>
    <dgm:cxn modelId="{572A90D5-BDBF-3F44-8A51-5C3E4C801C24}" type="presParOf" srcId="{CE83B688-DEF8-2646-90E9-C08F8A3E70E7}" destId="{659FE536-1F1D-504E-930D-115BE2D22DCB}" srcOrd="5" destOrd="0" presId="urn:microsoft.com/office/officeart/2005/8/layout/cycle3"/>
    <dgm:cxn modelId="{6CC86512-CD32-2C48-9728-9EA62A1480D4}" type="presParOf" srcId="{CE83B688-DEF8-2646-90E9-C08F8A3E70E7}" destId="{1DF87B89-7439-B148-B088-80277B1BDDD3}" srcOrd="6" destOrd="0" presId="urn:microsoft.com/office/officeart/2005/8/layout/cycle3"/>
    <dgm:cxn modelId="{2FB7A983-8FFD-B747-9BF0-C1905275425E}" type="presParOf" srcId="{CE83B688-DEF8-2646-90E9-C08F8A3E70E7}" destId="{93260571-C263-5C47-A419-401F437055EE}" srcOrd="7" destOrd="0" presId="urn:microsoft.com/office/officeart/2005/8/layout/cycle3"/>
    <dgm:cxn modelId="{7432D6A6-7917-B542-A8CF-1BD0D9546813}" type="presParOf" srcId="{CE83B688-DEF8-2646-90E9-C08F8A3E70E7}" destId="{04F4F7BC-8951-3C4E-98FF-8EBAE9FEC36A}" srcOrd="8" destOrd="0" presId="urn:microsoft.com/office/officeart/2005/8/layout/cycle3"/>
    <dgm:cxn modelId="{18AFF355-D33B-AF42-A9B5-4277B0B412EC}" type="presParOf" srcId="{CE83B688-DEF8-2646-90E9-C08F8A3E70E7}" destId="{501E3E8F-6299-5846-A6AE-B9980DA69887}" srcOrd="9" destOrd="0" presId="urn:microsoft.com/office/officeart/2005/8/layout/cycle3"/>
    <dgm:cxn modelId="{B50F3EC6-6FA3-1243-A536-628DFE7FE766}" type="presParOf" srcId="{CE83B688-DEF8-2646-90E9-C08F8A3E70E7}" destId="{5A043805-F757-CF4A-9485-BE4798BC4994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409FAB-9ED0-024C-9BD3-FA3940064CB5}">
      <dsp:nvSpPr>
        <dsp:cNvPr id="0" name=""/>
        <dsp:cNvSpPr/>
      </dsp:nvSpPr>
      <dsp:spPr>
        <a:xfrm>
          <a:off x="1274697" y="-73592"/>
          <a:ext cx="5578605" cy="5578605"/>
        </a:xfrm>
        <a:prstGeom prst="circularArrow">
          <a:avLst>
            <a:gd name="adj1" fmla="val 5544"/>
            <a:gd name="adj2" fmla="val 330680"/>
            <a:gd name="adj3" fmla="val 14854317"/>
            <a:gd name="adj4" fmla="val 16758672"/>
            <a:gd name="adj5" fmla="val 5757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B10FC-86A6-FF4A-A1B2-1E5A15A9B8EC}">
      <dsp:nvSpPr>
        <dsp:cNvPr id="0" name=""/>
        <dsp:cNvSpPr/>
      </dsp:nvSpPr>
      <dsp:spPr>
        <a:xfrm>
          <a:off x="3407171" y="1983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赤字</a:t>
          </a:r>
        </a:p>
      </dsp:txBody>
      <dsp:txXfrm>
        <a:off x="3439235" y="34047"/>
        <a:ext cx="1249528" cy="592700"/>
      </dsp:txXfrm>
    </dsp:sp>
    <dsp:sp modelId="{A6D2C092-8BDD-184F-B60A-95002E1C617A}">
      <dsp:nvSpPr>
        <dsp:cNvPr id="0" name=""/>
        <dsp:cNvSpPr/>
      </dsp:nvSpPr>
      <dsp:spPr>
        <a:xfrm>
          <a:off x="4805475" y="456319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金準備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</a:p>
      </dsp:txBody>
      <dsp:txXfrm>
        <a:off x="4837539" y="488383"/>
        <a:ext cx="1249528" cy="592700"/>
      </dsp:txXfrm>
    </dsp:sp>
    <dsp:sp modelId="{659FE536-1F1D-504E-930D-115BE2D22DCB}">
      <dsp:nvSpPr>
        <dsp:cNvPr id="0" name=""/>
        <dsp:cNvSpPr/>
      </dsp:nvSpPr>
      <dsp:spPr>
        <a:xfrm>
          <a:off x="5669674" y="1645787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紙幣発行量</a:t>
          </a:r>
          <a:endParaRPr kumimoji="1" lang="en-US" altLang="ja-JP" sz="1100" kern="1200" dirty="0">
            <a:latin typeface="Hiragino Sans W4" panose="020B0400000000000000" pitchFamily="34" charset="-128"/>
            <a:ea typeface="Hiragino Sans W4" panose="020B0400000000000000" pitchFamily="34" charset="-128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</a:p>
      </dsp:txBody>
      <dsp:txXfrm>
        <a:off x="5701738" y="1677851"/>
        <a:ext cx="1249528" cy="592700"/>
      </dsp:txXfrm>
    </dsp:sp>
    <dsp:sp modelId="{BC53A7EE-063F-0243-80AC-C4417FF60454}">
      <dsp:nvSpPr>
        <dsp:cNvPr id="0" name=""/>
        <dsp:cNvSpPr/>
      </dsp:nvSpPr>
      <dsp:spPr>
        <a:xfrm>
          <a:off x="5669674" y="3116051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物価安</a:t>
          </a:r>
          <a:br>
            <a:rPr kumimoji="1" lang="en-US" altLang="ja-JP" sz="11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（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デフレ</a:t>
          </a: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</a:p>
      </dsp:txBody>
      <dsp:txXfrm>
        <a:off x="5701738" y="3148115"/>
        <a:ext cx="1249528" cy="592700"/>
      </dsp:txXfrm>
    </dsp:sp>
    <dsp:sp modelId="{9C1F367D-4B7A-2E43-AB57-E2005CEC54C2}">
      <dsp:nvSpPr>
        <dsp:cNvPr id="0" name=""/>
        <dsp:cNvSpPr/>
      </dsp:nvSpPr>
      <dsp:spPr>
        <a:xfrm>
          <a:off x="4805475" y="4305519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  <a:br>
            <a:rPr kumimoji="1" lang="en-US" altLang="ja-JP" sz="11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</a:p>
      </dsp:txBody>
      <dsp:txXfrm>
        <a:off x="4837539" y="4337583"/>
        <a:ext cx="1249528" cy="592700"/>
      </dsp:txXfrm>
    </dsp:sp>
    <dsp:sp modelId="{1DF87B89-7439-B148-B088-80277B1BDDD3}">
      <dsp:nvSpPr>
        <dsp:cNvPr id="0" name=""/>
        <dsp:cNvSpPr/>
      </dsp:nvSpPr>
      <dsp:spPr>
        <a:xfrm>
          <a:off x="3407171" y="4759855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黒字</a:t>
          </a:r>
        </a:p>
      </dsp:txBody>
      <dsp:txXfrm>
        <a:off x="3439235" y="4791919"/>
        <a:ext cx="1249528" cy="592700"/>
      </dsp:txXfrm>
    </dsp:sp>
    <dsp:sp modelId="{93260571-C263-5C47-A419-401F437055EE}">
      <dsp:nvSpPr>
        <dsp:cNvPr id="0" name=""/>
        <dsp:cNvSpPr/>
      </dsp:nvSpPr>
      <dsp:spPr>
        <a:xfrm>
          <a:off x="2008868" y="4305519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金準備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</a:p>
      </dsp:txBody>
      <dsp:txXfrm>
        <a:off x="2040932" y="4337583"/>
        <a:ext cx="1249528" cy="592700"/>
      </dsp:txXfrm>
    </dsp:sp>
    <dsp:sp modelId="{5A043805-F757-CF4A-9485-BE4798BC4994}">
      <dsp:nvSpPr>
        <dsp:cNvPr id="0" name=""/>
        <dsp:cNvSpPr/>
      </dsp:nvSpPr>
      <dsp:spPr>
        <a:xfrm>
          <a:off x="1144668" y="3116051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紙幣発行量</a:t>
          </a:r>
          <a:endParaRPr kumimoji="1" lang="en-US" altLang="ja-JP" sz="1100" kern="1200" dirty="0">
            <a:latin typeface="Hiragino Sans W4" panose="020B0400000000000000" pitchFamily="34" charset="-128"/>
            <a:ea typeface="Hiragino Sans W4" panose="020B0400000000000000" pitchFamily="34" charset="-128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</a:p>
      </dsp:txBody>
      <dsp:txXfrm>
        <a:off x="1176732" y="3148115"/>
        <a:ext cx="1249528" cy="592700"/>
      </dsp:txXfrm>
    </dsp:sp>
    <dsp:sp modelId="{1A690F30-74B2-4847-B5F5-75A4E2E3AD9E}">
      <dsp:nvSpPr>
        <dsp:cNvPr id="0" name=""/>
        <dsp:cNvSpPr/>
      </dsp:nvSpPr>
      <dsp:spPr>
        <a:xfrm>
          <a:off x="1144668" y="1645787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物価高</a:t>
          </a:r>
          <a:br>
            <a:rPr kumimoji="1" lang="en-US" altLang="ja-JP" sz="11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（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インフレ</a:t>
          </a: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</a:p>
      </dsp:txBody>
      <dsp:txXfrm>
        <a:off x="1176732" y="1677851"/>
        <a:ext cx="1249528" cy="592700"/>
      </dsp:txXfrm>
    </dsp:sp>
    <dsp:sp modelId="{CAAC65CA-09FF-B642-B0C8-D19A7DEB4844}">
      <dsp:nvSpPr>
        <dsp:cNvPr id="0" name=""/>
        <dsp:cNvSpPr/>
      </dsp:nvSpPr>
      <dsp:spPr>
        <a:xfrm>
          <a:off x="2008868" y="456319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  <a:br>
            <a:rPr kumimoji="1" lang="en-US" altLang="ja-JP" sz="11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</a:p>
      </dsp:txBody>
      <dsp:txXfrm>
        <a:off x="2040932" y="488383"/>
        <a:ext cx="1249528" cy="592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409FAB-9ED0-024C-9BD3-FA3940064CB5}">
      <dsp:nvSpPr>
        <dsp:cNvPr id="0" name=""/>
        <dsp:cNvSpPr/>
      </dsp:nvSpPr>
      <dsp:spPr>
        <a:xfrm>
          <a:off x="1358799" y="-6120"/>
          <a:ext cx="5410400" cy="5410400"/>
        </a:xfrm>
        <a:prstGeom prst="circularArrow">
          <a:avLst>
            <a:gd name="adj1" fmla="val 5274"/>
            <a:gd name="adj2" fmla="val 312630"/>
            <a:gd name="adj3" fmla="val 14229145"/>
            <a:gd name="adj4" fmla="val 17126425"/>
            <a:gd name="adj5" fmla="val 5477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B10FC-86A6-FF4A-A1B2-1E5A15A9B8EC}">
      <dsp:nvSpPr>
        <dsp:cNvPr id="0" name=""/>
        <dsp:cNvSpPr/>
      </dsp:nvSpPr>
      <dsp:spPr>
        <a:xfrm>
          <a:off x="3036093" y="491"/>
          <a:ext cx="2055812" cy="1027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sz="20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赤字</a:t>
          </a:r>
        </a:p>
      </dsp:txBody>
      <dsp:txXfrm>
        <a:off x="3086271" y="50669"/>
        <a:ext cx="1955456" cy="927550"/>
      </dsp:txXfrm>
    </dsp:sp>
    <dsp:sp modelId="{A6D2C092-8BDD-184F-B60A-95002E1C617A}">
      <dsp:nvSpPr>
        <dsp:cNvPr id="0" name=""/>
        <dsp:cNvSpPr/>
      </dsp:nvSpPr>
      <dsp:spPr>
        <a:xfrm>
          <a:off x="4936922" y="1097936"/>
          <a:ext cx="2055812" cy="1027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自国通貨</a:t>
          </a:r>
          <a:r>
            <a:rPr kumimoji="1" lang="ja-JP" altLang="en-US" sz="20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減価</a:t>
          </a:r>
        </a:p>
      </dsp:txBody>
      <dsp:txXfrm>
        <a:off x="4987100" y="1148114"/>
        <a:ext cx="1955456" cy="927550"/>
      </dsp:txXfrm>
    </dsp:sp>
    <dsp:sp modelId="{659FE536-1F1D-504E-930D-115BE2D22DCB}">
      <dsp:nvSpPr>
        <dsp:cNvPr id="0" name=""/>
        <dsp:cNvSpPr/>
      </dsp:nvSpPr>
      <dsp:spPr>
        <a:xfrm>
          <a:off x="4936922" y="3292824"/>
          <a:ext cx="2055812" cy="1027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sz="20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  <a:br>
            <a:rPr kumimoji="1" lang="en-US" altLang="ja-JP" sz="20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20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sz="20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</a:p>
      </dsp:txBody>
      <dsp:txXfrm>
        <a:off x="4987100" y="3343002"/>
        <a:ext cx="1955456" cy="927550"/>
      </dsp:txXfrm>
    </dsp:sp>
    <dsp:sp modelId="{1DF87B89-7439-B148-B088-80277B1BDDD3}">
      <dsp:nvSpPr>
        <dsp:cNvPr id="0" name=""/>
        <dsp:cNvSpPr/>
      </dsp:nvSpPr>
      <dsp:spPr>
        <a:xfrm>
          <a:off x="3036093" y="4390268"/>
          <a:ext cx="2055812" cy="1027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sz="20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黒字</a:t>
          </a:r>
        </a:p>
      </dsp:txBody>
      <dsp:txXfrm>
        <a:off x="3086271" y="4440446"/>
        <a:ext cx="1955456" cy="927550"/>
      </dsp:txXfrm>
    </dsp:sp>
    <dsp:sp modelId="{93260571-C263-5C47-A419-401F437055EE}">
      <dsp:nvSpPr>
        <dsp:cNvPr id="0" name=""/>
        <dsp:cNvSpPr/>
      </dsp:nvSpPr>
      <dsp:spPr>
        <a:xfrm>
          <a:off x="1135264" y="3292824"/>
          <a:ext cx="2055812" cy="1027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自国通貨</a:t>
          </a:r>
          <a:r>
            <a:rPr kumimoji="1" lang="ja-JP" altLang="en-US" sz="20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増価</a:t>
          </a:r>
        </a:p>
      </dsp:txBody>
      <dsp:txXfrm>
        <a:off x="1185442" y="3343002"/>
        <a:ext cx="1955456" cy="927550"/>
      </dsp:txXfrm>
    </dsp:sp>
    <dsp:sp modelId="{5A043805-F757-CF4A-9485-BE4798BC4994}">
      <dsp:nvSpPr>
        <dsp:cNvPr id="0" name=""/>
        <dsp:cNvSpPr/>
      </dsp:nvSpPr>
      <dsp:spPr>
        <a:xfrm>
          <a:off x="1135264" y="1097936"/>
          <a:ext cx="2055812" cy="10279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sz="20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  <a:br>
            <a:rPr kumimoji="1" lang="en-US" altLang="ja-JP" sz="20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20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sz="20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</a:p>
      </dsp:txBody>
      <dsp:txXfrm>
        <a:off x="1185442" y="1148114"/>
        <a:ext cx="1955456" cy="9275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409FAB-9ED0-024C-9BD3-FA3940064CB5}">
      <dsp:nvSpPr>
        <dsp:cNvPr id="0" name=""/>
        <dsp:cNvSpPr/>
      </dsp:nvSpPr>
      <dsp:spPr>
        <a:xfrm>
          <a:off x="1274697" y="-73592"/>
          <a:ext cx="5578605" cy="5578605"/>
        </a:xfrm>
        <a:prstGeom prst="circularArrow">
          <a:avLst>
            <a:gd name="adj1" fmla="val 5544"/>
            <a:gd name="adj2" fmla="val 330680"/>
            <a:gd name="adj3" fmla="val 14854317"/>
            <a:gd name="adj4" fmla="val 16758672"/>
            <a:gd name="adj5" fmla="val 5757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B10FC-86A6-FF4A-A1B2-1E5A15A9B8EC}">
      <dsp:nvSpPr>
        <dsp:cNvPr id="0" name=""/>
        <dsp:cNvSpPr/>
      </dsp:nvSpPr>
      <dsp:spPr>
        <a:xfrm>
          <a:off x="3407171" y="1983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赤字</a:t>
          </a:r>
        </a:p>
      </dsp:txBody>
      <dsp:txXfrm>
        <a:off x="3439235" y="34047"/>
        <a:ext cx="1249528" cy="592700"/>
      </dsp:txXfrm>
    </dsp:sp>
    <dsp:sp modelId="{A6D2C092-8BDD-184F-B60A-95002E1C617A}">
      <dsp:nvSpPr>
        <dsp:cNvPr id="0" name=""/>
        <dsp:cNvSpPr/>
      </dsp:nvSpPr>
      <dsp:spPr>
        <a:xfrm>
          <a:off x="4805475" y="456319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自国通貨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減価</a:t>
          </a:r>
        </a:p>
      </dsp:txBody>
      <dsp:txXfrm>
        <a:off x="4837539" y="488383"/>
        <a:ext cx="1249528" cy="592700"/>
      </dsp:txXfrm>
    </dsp:sp>
    <dsp:sp modelId="{A9FA1A01-3B6D-DA4A-956A-7887C3F0F839}">
      <dsp:nvSpPr>
        <dsp:cNvPr id="0" name=""/>
        <dsp:cNvSpPr/>
      </dsp:nvSpPr>
      <dsp:spPr>
        <a:xfrm>
          <a:off x="5669674" y="1645787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為替介入</a:t>
          </a:r>
          <a:br>
            <a:rPr kumimoji="1" lang="en-US" altLang="ja-JP" sz="11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（自国通貨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買い</a:t>
          </a: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</a:p>
      </dsp:txBody>
      <dsp:txXfrm>
        <a:off x="5701738" y="1677851"/>
        <a:ext cx="1249528" cy="592700"/>
      </dsp:txXfrm>
    </dsp:sp>
    <dsp:sp modelId="{BEEC44DB-1D2C-5A47-B786-9AAE6963B36A}">
      <dsp:nvSpPr>
        <dsp:cNvPr id="0" name=""/>
        <dsp:cNvSpPr/>
      </dsp:nvSpPr>
      <dsp:spPr>
        <a:xfrm>
          <a:off x="5669674" y="3116051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物価安</a:t>
          </a:r>
          <a:br>
            <a:rPr kumimoji="1" lang="en-US" altLang="ja-JP" sz="11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（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デフレ</a:t>
          </a: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</a:p>
      </dsp:txBody>
      <dsp:txXfrm>
        <a:off x="5701738" y="3148115"/>
        <a:ext cx="1249528" cy="592700"/>
      </dsp:txXfrm>
    </dsp:sp>
    <dsp:sp modelId="{659FE536-1F1D-504E-930D-115BE2D22DCB}">
      <dsp:nvSpPr>
        <dsp:cNvPr id="0" name=""/>
        <dsp:cNvSpPr/>
      </dsp:nvSpPr>
      <dsp:spPr>
        <a:xfrm>
          <a:off x="4805475" y="4305519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  <a:br>
            <a:rPr kumimoji="1" lang="en-US" altLang="ja-JP" sz="11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</a:p>
      </dsp:txBody>
      <dsp:txXfrm>
        <a:off x="4837539" y="4337583"/>
        <a:ext cx="1249528" cy="592700"/>
      </dsp:txXfrm>
    </dsp:sp>
    <dsp:sp modelId="{1DF87B89-7439-B148-B088-80277B1BDDD3}">
      <dsp:nvSpPr>
        <dsp:cNvPr id="0" name=""/>
        <dsp:cNvSpPr/>
      </dsp:nvSpPr>
      <dsp:spPr>
        <a:xfrm>
          <a:off x="3407171" y="4759855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貿易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黒字</a:t>
          </a:r>
        </a:p>
      </dsp:txBody>
      <dsp:txXfrm>
        <a:off x="3439235" y="4791919"/>
        <a:ext cx="1249528" cy="592700"/>
      </dsp:txXfrm>
    </dsp:sp>
    <dsp:sp modelId="{93260571-C263-5C47-A419-401F437055EE}">
      <dsp:nvSpPr>
        <dsp:cNvPr id="0" name=""/>
        <dsp:cNvSpPr/>
      </dsp:nvSpPr>
      <dsp:spPr>
        <a:xfrm>
          <a:off x="2008868" y="4305519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自国通貨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増価</a:t>
          </a:r>
        </a:p>
      </dsp:txBody>
      <dsp:txXfrm>
        <a:off x="2040932" y="4337583"/>
        <a:ext cx="1249528" cy="592700"/>
      </dsp:txXfrm>
    </dsp:sp>
    <dsp:sp modelId="{04F4F7BC-8951-3C4E-98FF-8EBAE9FEC36A}">
      <dsp:nvSpPr>
        <dsp:cNvPr id="0" name=""/>
        <dsp:cNvSpPr/>
      </dsp:nvSpPr>
      <dsp:spPr>
        <a:xfrm>
          <a:off x="1144668" y="3116051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為替介入</a:t>
          </a:r>
          <a:br>
            <a:rPr kumimoji="1" lang="en-US" altLang="ja-JP" sz="11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（自国通貨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売り</a:t>
          </a: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  <a:endParaRPr kumimoji="1" lang="ja-JP" altLang="en-US" sz="1100" kern="1200"/>
        </a:p>
      </dsp:txBody>
      <dsp:txXfrm>
        <a:off x="1176732" y="3148115"/>
        <a:ext cx="1249528" cy="592700"/>
      </dsp:txXfrm>
    </dsp:sp>
    <dsp:sp modelId="{501E3E8F-6299-5846-A6AE-B9980DA69887}">
      <dsp:nvSpPr>
        <dsp:cNvPr id="0" name=""/>
        <dsp:cNvSpPr/>
      </dsp:nvSpPr>
      <dsp:spPr>
        <a:xfrm>
          <a:off x="1144668" y="1645787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物価安</a:t>
          </a:r>
          <a:br>
            <a:rPr kumimoji="1" lang="en-US" altLang="ja-JP" sz="11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（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インフレ</a:t>
          </a: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）</a:t>
          </a:r>
          <a:endParaRPr kumimoji="1" lang="ja-JP" altLang="en-US" sz="1100" kern="1200"/>
        </a:p>
      </dsp:txBody>
      <dsp:txXfrm>
        <a:off x="1176732" y="1677851"/>
        <a:ext cx="1249528" cy="592700"/>
      </dsp:txXfrm>
    </dsp:sp>
    <dsp:sp modelId="{5A043805-F757-CF4A-9485-BE4798BC4994}">
      <dsp:nvSpPr>
        <dsp:cNvPr id="0" name=""/>
        <dsp:cNvSpPr/>
      </dsp:nvSpPr>
      <dsp:spPr>
        <a:xfrm>
          <a:off x="2008868" y="456319"/>
          <a:ext cx="1313656" cy="6568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輸出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減少</a:t>
          </a:r>
          <a:br>
            <a:rPr kumimoji="1" lang="en-US" altLang="ja-JP" sz="1100" kern="1200" dirty="0">
              <a:latin typeface="Hiragino Sans W4" panose="020B0400000000000000" pitchFamily="34" charset="-128"/>
              <a:ea typeface="Hiragino Sans W4" panose="020B0400000000000000" pitchFamily="34" charset="-128"/>
            </a:rPr>
          </a:br>
          <a:r>
            <a:rPr kumimoji="1" lang="ja-JP" altLang="en-US" sz="1100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輸入</a:t>
          </a:r>
          <a:r>
            <a:rPr kumimoji="1" lang="ja-JP" altLang="en-US" sz="1100" b="1" kern="1200">
              <a:latin typeface="Hiragino Sans W4" panose="020B0400000000000000" pitchFamily="34" charset="-128"/>
              <a:ea typeface="Hiragino Sans W4" panose="020B0400000000000000" pitchFamily="34" charset="-128"/>
            </a:rPr>
            <a:t>増加</a:t>
          </a:r>
        </a:p>
      </dsp:txBody>
      <dsp:txXfrm>
        <a:off x="2040932" y="488383"/>
        <a:ext cx="1249528" cy="592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17D773-F98D-2CB4-8E6B-5E2532670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3FFF5A-83DE-1990-5001-AA6C466A1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EC61E0-197F-D001-9DC8-94A03F18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E8EE15-6F6F-4264-A01D-385CC79E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8ABA0C-B83B-4951-CE97-E9970F38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5358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84D2B-FCC3-D2DF-CDB1-E3637B69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A0A500-E7B5-58CB-D8AA-A76D17D50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412516-E07A-AC18-4CCC-5B0624723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86F67-E7D2-5369-81EE-FF136647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4EAE59-E5C6-6EE3-C9EB-02F6451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0679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4E4AC4-F509-3301-EED1-3706B0A2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CA9AFF-892A-B238-0F1E-38E89CE64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98241C-38AC-5651-2FBD-40B011A1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B4F1F3-9016-2FA6-37FB-F9C0CC3D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D07A1E-05DD-E136-B663-8D046978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514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0FB9CA-D198-549D-F665-B779D54D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4EEF9E-D9DD-87BA-6463-18E1BCE12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D2A566-1A0F-A04B-9D7B-AD9B31DBC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390880-2D55-87B4-222D-FC7E92A8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7F514C-9DFC-684A-8DEF-F3F4C7F91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990486-02A2-3228-EB70-8A6E99CA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41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2C4DDB-9F04-F6A4-7653-4F27465C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69B245-B005-E5B7-7AE3-B8CC92350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E9783D-A8FD-CE71-F5EE-DF2F3B4FE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BDD013-4C89-A60E-F514-DDFC3DE9C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5B4B9F8-86DE-5CEE-0F61-0F8C3AA21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C0935B1-7E7A-EB3D-865C-1FA7E936A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AB21B9B-8DE3-6020-4E56-299C396E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C6AACE0-2978-1453-F207-1BCCD339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8718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18B6A5-96C8-C26E-3C41-12BD70F8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90C5EB-7CBB-E4E2-A94B-CAA3266F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C5EFC5C-1104-D178-63F0-BEF62DCA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F4ED509-D002-0476-8870-1D3B3D8B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93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1869BA-E062-CA58-D399-36C98751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FF7D0-4F51-3A61-0F74-FEB0D36D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0963F1-E847-9DBA-F2E8-241ADFE8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8495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F2D941-B428-DED8-9507-7B2F70F9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9BD39D-E789-2661-ECE0-866544032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6138FC-C1D2-0078-4CB1-8270F7CE2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AC4DDA-7FF3-DB08-AA56-087328C8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D347A9-CC4B-3D2D-ADDA-7A8DA1B9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D3085D-004B-B314-B560-624F2E53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51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9CE889-313E-150F-09DE-1304AF05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5A4C754-2D5F-FBAD-5B4D-D6042E235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2AEE02-79FC-E2FC-5C13-346A9A549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054718-1F11-FD97-FE4D-C2B9C9E5B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EE3493-BEA4-DC15-D8D3-61DC2B25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43DBFD-80E2-84CA-3FF3-C989339D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340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BA0D1-7A3B-A293-9841-E166E2C3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4A2E124-3775-AA92-CD95-4E7DEE57A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B23FAA-E927-2A9D-0C8A-B1154C104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C1A046-F9A7-4C06-38B2-CDC46D49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449D39-82E8-927F-5077-0515DAF2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5621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5F59696-9017-B6E0-579C-FF5620862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9B03FF-B852-2070-6125-A49E8B895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6A89CB-28D0-9622-67BB-528B8C64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DFE62F-5A13-B650-3EDD-F7B85E32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A77B39-AF45-1A4E-FDF2-E8FC4F89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671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60D3B8-BC8F-3BC9-D4BB-B698F83B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4E4845-844E-E138-3A35-B08759706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47487A-9CAC-55BC-F3EB-041281200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38AE0-A022-EC4B-ADED-C3987264F154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FA9E7F-5592-61F3-82E0-D62628EBB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1B1E89-4099-A51F-539F-E090B7A9A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2609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B74CE89B-E4E2-678F-A83F-63C22BF73C56}"/>
              </a:ext>
            </a:extLst>
          </p:cNvPr>
          <p:cNvGrpSpPr/>
          <p:nvPr/>
        </p:nvGrpSpPr>
        <p:grpSpPr>
          <a:xfrm>
            <a:off x="1202114" y="309387"/>
            <a:ext cx="9851333" cy="5569639"/>
            <a:chOff x="1202114" y="309387"/>
            <a:chExt cx="9851333" cy="5569639"/>
          </a:xfrm>
        </p:grpSpPr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B6F76CFD-97F8-D596-EDC5-DCCBE5624736}"/>
                </a:ext>
              </a:extLst>
            </p:cNvPr>
            <p:cNvSpPr/>
            <p:nvPr/>
          </p:nvSpPr>
          <p:spPr>
            <a:xfrm>
              <a:off x="5080590" y="30938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はじめに</a:t>
              </a:r>
              <a:endParaRPr lang="en-US" altLang="ja-JP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E10750B-F3B0-8566-4094-B9776C4208B0}"/>
                </a:ext>
              </a:extLst>
            </p:cNvPr>
            <p:cNvSpPr/>
            <p:nvPr/>
          </p:nvSpPr>
          <p:spPr>
            <a:xfrm>
              <a:off x="1322733" y="1492511"/>
              <a:ext cx="9546534" cy="85487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5" name="カギ線コネクタ 24">
              <a:extLst>
                <a:ext uri="{FF2B5EF4-FFF2-40B4-BE49-F238E27FC236}">
                  <a16:creationId xmlns:a16="http://schemas.microsoft.com/office/drawing/2014/main" id="{C0400E63-1B32-D11B-EA16-3917A20FCC4B}"/>
                </a:ext>
              </a:extLst>
            </p:cNvPr>
            <p:cNvCxnSpPr>
              <a:stCxn id="6" idx="2"/>
              <a:endCxn id="7" idx="1"/>
            </p:cNvCxnSpPr>
            <p:nvPr/>
          </p:nvCxnSpPr>
          <p:spPr>
            <a:xfrm rot="5400000">
              <a:off x="3337023" y="-831753"/>
              <a:ext cx="979885" cy="4538071"/>
            </a:xfrm>
            <a:prstGeom prst="bentConnector4">
              <a:avLst>
                <a:gd name="adj1" fmla="val 39414"/>
                <a:gd name="adj2" fmla="val 105037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2F6BFA68-C61A-378B-5BD8-CA69CA86167B}"/>
                </a:ext>
              </a:extLst>
            </p:cNvPr>
            <p:cNvSpPr txBox="1"/>
            <p:nvPr/>
          </p:nvSpPr>
          <p:spPr>
            <a:xfrm>
              <a:off x="1322733" y="1227862"/>
              <a:ext cx="175910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パラダイム</a:t>
              </a:r>
              <a:r>
                <a:rPr kumimoji="1" lang="ja-JP" altLang="en-US" sz="14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歴史</a:t>
              </a:r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4A2A1B1F-2879-97FA-1060-B240711BFB8A}"/>
                </a:ext>
              </a:extLst>
            </p:cNvPr>
            <p:cNvSpPr/>
            <p:nvPr/>
          </p:nvSpPr>
          <p:spPr>
            <a:xfrm>
              <a:off x="1557929" y="160824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国際政治経済学</a:t>
              </a:r>
              <a:r>
                <a:rPr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パラダイム</a:t>
              </a:r>
              <a:endParaRPr kumimoji="1" lang="ja-JP" altLang="en-US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D7A1BCA3-3E8F-19D6-20FE-8E178B802FBD}"/>
                </a:ext>
              </a:extLst>
            </p:cNvPr>
            <p:cNvSpPr/>
            <p:nvPr/>
          </p:nvSpPr>
          <p:spPr>
            <a:xfrm>
              <a:off x="3891219" y="160824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主権国家体制</a:t>
              </a:r>
            </a:p>
          </p:txBody>
        </p:sp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DF674826-6CEA-65B2-A3CA-6CBFF927B346}"/>
                </a:ext>
              </a:extLst>
            </p:cNvPr>
            <p:cNvSpPr/>
            <p:nvPr/>
          </p:nvSpPr>
          <p:spPr>
            <a:xfrm>
              <a:off x="6224509" y="1607389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パックス・ブリタニカ</a:t>
              </a:r>
              <a:r>
                <a:rPr kumimoji="1" lang="ja-JP" altLang="en-US" sz="12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endParaRPr kumimoji="1" lang="en-US" altLang="ja-JP" sz="1400" dirty="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世界大戦</a:t>
              </a: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6845D614-98A7-7F2D-5FA4-7EAB1198C7FB}"/>
                </a:ext>
              </a:extLst>
            </p:cNvPr>
            <p:cNvSpPr/>
            <p:nvPr/>
          </p:nvSpPr>
          <p:spPr>
            <a:xfrm>
              <a:off x="8557799" y="160738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戦後国際秩序</a:t>
              </a:r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B8A8B377-FD81-D899-C800-E6D2DEFEBB87}"/>
                </a:ext>
              </a:extLst>
            </p:cNvPr>
            <p:cNvSpPr/>
            <p:nvPr/>
          </p:nvSpPr>
          <p:spPr>
            <a:xfrm>
              <a:off x="1437310" y="311002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貿易</a:t>
              </a:r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経済学</a:t>
              </a:r>
              <a:endParaRPr kumimoji="1" lang="ja-JP" altLang="en-US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2" name="角丸四角形 11">
              <a:extLst>
                <a:ext uri="{FF2B5EF4-FFF2-40B4-BE49-F238E27FC236}">
                  <a16:creationId xmlns:a16="http://schemas.microsoft.com/office/drawing/2014/main" id="{6D7AC088-3597-D866-2026-716AB8B3F942}"/>
                </a:ext>
              </a:extLst>
            </p:cNvPr>
            <p:cNvSpPr/>
            <p:nvPr/>
          </p:nvSpPr>
          <p:spPr>
            <a:xfrm>
              <a:off x="3772928" y="311002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保護主義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endParaRPr kumimoji="1" lang="en-US" altLang="ja-JP" dirty="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政治学</a:t>
              </a:r>
            </a:p>
          </p:txBody>
        </p:sp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386A0706-FE59-318A-62AA-1004ACD7D9EB}"/>
                </a:ext>
              </a:extLst>
            </p:cNvPr>
            <p:cNvSpPr/>
            <p:nvPr/>
          </p:nvSpPr>
          <p:spPr>
            <a:xfrm>
              <a:off x="1437310" y="399840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貿易交渉</a:t>
              </a:r>
              <a:endParaRPr kumimoji="1" lang="ja-JP" altLang="en-US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B40F576E-F1C1-1731-DD3E-1FB462223A0B}"/>
                </a:ext>
              </a:extLst>
            </p:cNvPr>
            <p:cNvSpPr/>
            <p:nvPr/>
          </p:nvSpPr>
          <p:spPr>
            <a:xfrm>
              <a:off x="3772928" y="399840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GATT</a:t>
              </a:r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体制</a:t>
              </a: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50A8261A-DE44-B74F-1CAE-6C4670042B11}"/>
                </a:ext>
              </a:extLst>
            </p:cNvPr>
            <p:cNvSpPr/>
            <p:nvPr/>
          </p:nvSpPr>
          <p:spPr>
            <a:xfrm>
              <a:off x="1202114" y="3001563"/>
              <a:ext cx="4773267" cy="172655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2C900995-5D33-46A0-4FD6-499BE5485EFD}"/>
                </a:ext>
              </a:extLst>
            </p:cNvPr>
            <p:cNvSpPr/>
            <p:nvPr/>
          </p:nvSpPr>
          <p:spPr>
            <a:xfrm>
              <a:off x="6515376" y="311002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国際収支</a:t>
              </a:r>
              <a:endParaRPr kumimoji="1" lang="ja-JP" altLang="en-US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8" name="角丸四角形 17">
              <a:extLst>
                <a:ext uri="{FF2B5EF4-FFF2-40B4-BE49-F238E27FC236}">
                  <a16:creationId xmlns:a16="http://schemas.microsoft.com/office/drawing/2014/main" id="{4846D286-0AEF-D902-B9C9-C40590EC0DC8}"/>
                </a:ext>
              </a:extLst>
            </p:cNvPr>
            <p:cNvSpPr/>
            <p:nvPr/>
          </p:nvSpPr>
          <p:spPr>
            <a:xfrm>
              <a:off x="8850994" y="311002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為替制度</a:t>
              </a: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F5B5667C-3727-F6E7-4B5E-39E757943348}"/>
                </a:ext>
              </a:extLst>
            </p:cNvPr>
            <p:cNvSpPr/>
            <p:nvPr/>
          </p:nvSpPr>
          <p:spPr>
            <a:xfrm>
              <a:off x="6515376" y="399840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マクロ経済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endParaRPr kumimoji="1" lang="en-US" altLang="ja-JP" sz="1400" dirty="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国際金融</a:t>
              </a:r>
            </a:p>
          </p:txBody>
        </p:sp>
        <p:sp>
          <p:nvSpPr>
            <p:cNvPr id="20" name="角丸四角形 19">
              <a:extLst>
                <a:ext uri="{FF2B5EF4-FFF2-40B4-BE49-F238E27FC236}">
                  <a16:creationId xmlns:a16="http://schemas.microsoft.com/office/drawing/2014/main" id="{756F1980-B449-E61F-B79A-4A0C9B064198}"/>
                </a:ext>
              </a:extLst>
            </p:cNvPr>
            <p:cNvSpPr/>
            <p:nvPr/>
          </p:nvSpPr>
          <p:spPr>
            <a:xfrm>
              <a:off x="8850994" y="399840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ブレトン・ウッズ体制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54E9CB0B-4A94-F6C6-5CCA-0CAAC6D8F2F8}"/>
                </a:ext>
              </a:extLst>
            </p:cNvPr>
            <p:cNvSpPr/>
            <p:nvPr/>
          </p:nvSpPr>
          <p:spPr>
            <a:xfrm>
              <a:off x="6280180" y="3001563"/>
              <a:ext cx="4773267" cy="172655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角丸四角形 22">
              <a:extLst>
                <a:ext uri="{FF2B5EF4-FFF2-40B4-BE49-F238E27FC236}">
                  <a16:creationId xmlns:a16="http://schemas.microsoft.com/office/drawing/2014/main" id="{5BE58269-6ACA-79F7-1DCF-1C01E31BBDF7}"/>
                </a:ext>
              </a:extLst>
            </p:cNvPr>
            <p:cNvSpPr/>
            <p:nvPr/>
          </p:nvSpPr>
          <p:spPr>
            <a:xfrm>
              <a:off x="5080589" y="524107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理解度</a:t>
              </a:r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確認</a:t>
              </a:r>
            </a:p>
          </p:txBody>
        </p:sp>
        <p:cxnSp>
          <p:nvCxnSpPr>
            <p:cNvPr id="27" name="カギ線コネクタ 26">
              <a:extLst>
                <a:ext uri="{FF2B5EF4-FFF2-40B4-BE49-F238E27FC236}">
                  <a16:creationId xmlns:a16="http://schemas.microsoft.com/office/drawing/2014/main" id="{433FB38A-F6DC-3FB1-60F4-945F17AA4376}"/>
                </a:ext>
              </a:extLst>
            </p:cNvPr>
            <p:cNvCxnSpPr>
              <a:cxnSpLocks/>
              <a:stCxn id="10" idx="2"/>
              <a:endCxn id="11" idx="1"/>
            </p:cNvCxnSpPr>
            <p:nvPr/>
          </p:nvCxnSpPr>
          <p:spPr>
            <a:xfrm rot="5400000">
              <a:off x="4913431" y="-1230779"/>
              <a:ext cx="1183659" cy="8135899"/>
            </a:xfrm>
            <a:prstGeom prst="bentConnector4">
              <a:avLst>
                <a:gd name="adj1" fmla="val 36526"/>
                <a:gd name="adj2" fmla="val 10281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1C65419C-938D-4B39-0E67-60A744A803E6}"/>
                </a:ext>
              </a:extLst>
            </p:cNvPr>
            <p:cNvSpPr txBox="1"/>
            <p:nvPr/>
          </p:nvSpPr>
          <p:spPr>
            <a:xfrm>
              <a:off x="1202114" y="2736914"/>
              <a:ext cx="189226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貿易の政治経済学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33E6A4A0-FC47-4C9F-8D07-F16D54EE2881}"/>
                </a:ext>
              </a:extLst>
            </p:cNvPr>
            <p:cNvSpPr txBox="1"/>
            <p:nvPr/>
          </p:nvSpPr>
          <p:spPr>
            <a:xfrm>
              <a:off x="6280180" y="2736914"/>
              <a:ext cx="2030819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国際金融</a:t>
              </a:r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の政治経済</a:t>
              </a:r>
            </a:p>
          </p:txBody>
        </p:sp>
        <p:cxnSp>
          <p:nvCxnSpPr>
            <p:cNvPr id="32" name="カギ線コネクタ 31">
              <a:extLst>
                <a:ext uri="{FF2B5EF4-FFF2-40B4-BE49-F238E27FC236}">
                  <a16:creationId xmlns:a16="http://schemas.microsoft.com/office/drawing/2014/main" id="{FDAC0CE0-8B71-3085-2365-A04F54DB42A2}"/>
                </a:ext>
              </a:extLst>
            </p:cNvPr>
            <p:cNvCxnSpPr>
              <a:cxnSpLocks/>
              <a:stCxn id="12" idx="2"/>
              <a:endCxn id="13" idx="1"/>
            </p:cNvCxnSpPr>
            <p:nvPr/>
          </p:nvCxnSpPr>
          <p:spPr>
            <a:xfrm rot="5400000">
              <a:off x="2828122" y="2357164"/>
              <a:ext cx="569405" cy="3351028"/>
            </a:xfrm>
            <a:prstGeom prst="bentConnector4">
              <a:avLst>
                <a:gd name="adj1" fmla="val 21990"/>
                <a:gd name="adj2" fmla="val 106822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カギ線コネクタ 34">
              <a:extLst>
                <a:ext uri="{FF2B5EF4-FFF2-40B4-BE49-F238E27FC236}">
                  <a16:creationId xmlns:a16="http://schemas.microsoft.com/office/drawing/2014/main" id="{C1AD6E83-BFF8-A05B-7E33-0D2B31F2B99A}"/>
                </a:ext>
              </a:extLst>
            </p:cNvPr>
            <p:cNvCxnSpPr>
              <a:cxnSpLocks/>
              <a:stCxn id="18" idx="2"/>
              <a:endCxn id="19" idx="1"/>
            </p:cNvCxnSpPr>
            <p:nvPr/>
          </p:nvCxnSpPr>
          <p:spPr>
            <a:xfrm rot="5400000">
              <a:off x="7906188" y="2357164"/>
              <a:ext cx="569405" cy="3351028"/>
            </a:xfrm>
            <a:prstGeom prst="bentConnector4">
              <a:avLst>
                <a:gd name="adj1" fmla="val 21990"/>
                <a:gd name="adj2" fmla="val 106822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カギ線コネクタ 37">
              <a:extLst>
                <a:ext uri="{FF2B5EF4-FFF2-40B4-BE49-F238E27FC236}">
                  <a16:creationId xmlns:a16="http://schemas.microsoft.com/office/drawing/2014/main" id="{71121014-895C-40ED-A1E6-526744FB9B86}"/>
                </a:ext>
              </a:extLst>
            </p:cNvPr>
            <p:cNvCxnSpPr>
              <a:cxnSpLocks/>
              <a:stCxn id="20" idx="2"/>
              <a:endCxn id="23" idx="0"/>
            </p:cNvCxnSpPr>
            <p:nvPr/>
          </p:nvCxnSpPr>
          <p:spPr>
            <a:xfrm rot="5400000">
              <a:off x="7678844" y="3053513"/>
              <a:ext cx="604716" cy="377040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6E052AB5-5523-E671-7066-552AE6B1CA16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3588748" y="1927225"/>
              <a:ext cx="30247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DF7298E7-A919-AE78-2A33-06D2563A5580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 flipV="1">
              <a:off x="5922038" y="1926366"/>
              <a:ext cx="302471" cy="85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628351B5-AB16-A727-C0F1-F3719B5FEAC6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 flipV="1">
              <a:off x="8255328" y="1926365"/>
              <a:ext cx="302471" cy="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DFF4400B-DD7D-3958-F2A3-E77DB9BA4364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>
              <a:off x="3468129" y="3429000"/>
              <a:ext cx="3047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矢印コネクタ 64">
              <a:extLst>
                <a:ext uri="{FF2B5EF4-FFF2-40B4-BE49-F238E27FC236}">
                  <a16:creationId xmlns:a16="http://schemas.microsoft.com/office/drawing/2014/main" id="{D57C901A-71DC-588A-2C3D-C8DB13256FE3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>
              <a:off x="3468129" y="4317381"/>
              <a:ext cx="3047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矢印コネクタ 69">
              <a:extLst>
                <a:ext uri="{FF2B5EF4-FFF2-40B4-BE49-F238E27FC236}">
                  <a16:creationId xmlns:a16="http://schemas.microsoft.com/office/drawing/2014/main" id="{DD088943-9811-90CA-E99C-6F7F47409C6C}"/>
                </a:ext>
              </a:extLst>
            </p:cNvPr>
            <p:cNvCxnSpPr>
              <a:cxnSpLocks/>
            </p:cNvCxnSpPr>
            <p:nvPr/>
          </p:nvCxnSpPr>
          <p:spPr>
            <a:xfrm>
              <a:off x="8557799" y="3428999"/>
              <a:ext cx="3047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4372A108-D350-FAA3-8E23-00F2E641B86B}"/>
                </a:ext>
              </a:extLst>
            </p:cNvPr>
            <p:cNvCxnSpPr>
              <a:cxnSpLocks/>
            </p:cNvCxnSpPr>
            <p:nvPr/>
          </p:nvCxnSpPr>
          <p:spPr>
            <a:xfrm>
              <a:off x="8557799" y="4317380"/>
              <a:ext cx="3047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カギ線コネクタ 71">
              <a:extLst>
                <a:ext uri="{FF2B5EF4-FFF2-40B4-BE49-F238E27FC236}">
                  <a16:creationId xmlns:a16="http://schemas.microsoft.com/office/drawing/2014/main" id="{9B538C98-DD53-6929-3856-A7874A066B62}"/>
                </a:ext>
              </a:extLst>
            </p:cNvPr>
            <p:cNvCxnSpPr>
              <a:cxnSpLocks/>
              <a:stCxn id="14" idx="3"/>
              <a:endCxn id="17" idx="1"/>
            </p:cNvCxnSpPr>
            <p:nvPr/>
          </p:nvCxnSpPr>
          <p:spPr>
            <a:xfrm flipV="1">
              <a:off x="5803747" y="3429000"/>
              <a:ext cx="711629" cy="88838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4907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ADE6F2AA-2CF8-4A6D-2959-7B113704FA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210500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153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4BF5E-886D-F0F0-F61F-983F3E84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ED0D3367-FBFD-6FAE-BD82-51F4F4648CF7}"/>
              </a:ext>
            </a:extLst>
          </p:cNvPr>
          <p:cNvGrpSpPr/>
          <p:nvPr/>
        </p:nvGrpSpPr>
        <p:grpSpPr>
          <a:xfrm>
            <a:off x="193535" y="841016"/>
            <a:ext cx="10892085" cy="5238489"/>
            <a:chOff x="193535" y="841016"/>
            <a:chExt cx="10892085" cy="5238489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9E920F8B-DC95-73A8-83A0-06DDC1DEEBDE}"/>
                </a:ext>
              </a:extLst>
            </p:cNvPr>
            <p:cNvCxnSpPr/>
            <p:nvPr/>
          </p:nvCxnSpPr>
          <p:spPr>
            <a:xfrm flipV="1">
              <a:off x="1254398" y="854182"/>
              <a:ext cx="0" cy="4824248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88CBD905-7F1B-381B-5A7A-A030C8F577AD}"/>
                </a:ext>
              </a:extLst>
            </p:cNvPr>
            <p:cNvCxnSpPr>
              <a:cxnSpLocks/>
            </p:cNvCxnSpPr>
            <p:nvPr/>
          </p:nvCxnSpPr>
          <p:spPr>
            <a:xfrm>
              <a:off x="1254398" y="5678430"/>
              <a:ext cx="4477407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C4FCA4EA-7AD1-5CC5-BA08-26AF5E200DD1}"/>
                </a:ext>
              </a:extLst>
            </p:cNvPr>
            <p:cNvSpPr txBox="1"/>
            <p:nvPr/>
          </p:nvSpPr>
          <p:spPr>
            <a:xfrm>
              <a:off x="4212247" y="5678430"/>
              <a:ext cx="16476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車の生産量</a:t>
              </a:r>
              <a:r>
                <a:rPr kumimoji="1" lang="en-US" altLang="ja-JP" sz="16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 (</a:t>
              </a:r>
              <a:r>
                <a:rPr kumimoji="1" lang="ja-JP" altLang="en-US" sz="1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台</a:t>
              </a:r>
              <a:r>
                <a:rPr kumimoji="1" lang="en-US" altLang="ja-JP" sz="16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)</a:t>
              </a:r>
              <a:endParaRPr kumimoji="1" lang="ja-JP" altLang="en-US" sz="16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9606FB25-61CB-1113-61F7-AAC4BC4AFE4D}"/>
                </a:ext>
              </a:extLst>
            </p:cNvPr>
            <p:cNvCxnSpPr/>
            <p:nvPr/>
          </p:nvCxnSpPr>
          <p:spPr>
            <a:xfrm>
              <a:off x="6500158" y="2522076"/>
              <a:ext cx="2034022" cy="3156354"/>
            </a:xfrm>
            <a:prstGeom prst="line">
              <a:avLst/>
            </a:prstGeom>
            <a:ln w="222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2B45F23-F5C4-021D-E63A-D44343137CAA}"/>
                </a:ext>
              </a:extLst>
            </p:cNvPr>
            <p:cNvSpPr txBox="1"/>
            <p:nvPr/>
          </p:nvSpPr>
          <p:spPr>
            <a:xfrm>
              <a:off x="5400383" y="2399929"/>
              <a:ext cx="1111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(0, 700)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35A8C133-6918-D576-9E24-D84B17EEA635}"/>
                </a:ext>
              </a:extLst>
            </p:cNvPr>
            <p:cNvSpPr txBox="1"/>
            <p:nvPr/>
          </p:nvSpPr>
          <p:spPr>
            <a:xfrm>
              <a:off x="7955016" y="5710173"/>
              <a:ext cx="1111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(350, 0)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99C745EF-B41F-C582-398F-BD0001E35F37}"/>
                </a:ext>
              </a:extLst>
            </p:cNvPr>
            <p:cNvCxnSpPr/>
            <p:nvPr/>
          </p:nvCxnSpPr>
          <p:spPr>
            <a:xfrm flipV="1">
              <a:off x="6480087" y="854181"/>
              <a:ext cx="0" cy="4824248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FD5DC719-D19A-F81D-577D-A018B5FC26B6}"/>
                </a:ext>
              </a:extLst>
            </p:cNvPr>
            <p:cNvCxnSpPr>
              <a:cxnSpLocks/>
            </p:cNvCxnSpPr>
            <p:nvPr/>
          </p:nvCxnSpPr>
          <p:spPr>
            <a:xfrm>
              <a:off x="6480087" y="5678429"/>
              <a:ext cx="4477407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D031A61D-9DBD-B676-F9AE-1BC6FD4C3BAA}"/>
                </a:ext>
              </a:extLst>
            </p:cNvPr>
            <p:cNvSpPr txBox="1"/>
            <p:nvPr/>
          </p:nvSpPr>
          <p:spPr>
            <a:xfrm>
              <a:off x="2163443" y="884958"/>
              <a:ext cx="19030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労働力</a:t>
              </a:r>
              <a:r>
                <a:rPr kumimoji="1"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1400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人</a:t>
              </a:r>
              <a:endParaRPr kumimoji="1" lang="en-US" altLang="ja-JP" sz="1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9F1385A-0121-1592-4756-262F68ACEDDC}"/>
                </a:ext>
              </a:extLst>
            </p:cNvPr>
            <p:cNvSpPr txBox="1"/>
            <p:nvPr/>
          </p:nvSpPr>
          <p:spPr>
            <a:xfrm>
              <a:off x="4911414" y="5288467"/>
              <a:ext cx="1111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(700, 0)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35CAA5E9-F7AE-9EC7-DC89-8468F65E6E3C}"/>
                </a:ext>
              </a:extLst>
            </p:cNvPr>
            <p:cNvSpPr txBox="1"/>
            <p:nvPr/>
          </p:nvSpPr>
          <p:spPr>
            <a:xfrm>
              <a:off x="800992" y="845404"/>
              <a:ext cx="461665" cy="152278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米の生産量</a:t>
              </a:r>
              <a:r>
                <a:rPr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(t)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EC0B74F-336F-5C22-386D-74EDEB7CC6B1}"/>
                </a:ext>
              </a:extLst>
            </p:cNvPr>
            <p:cNvSpPr txBox="1"/>
            <p:nvPr/>
          </p:nvSpPr>
          <p:spPr>
            <a:xfrm>
              <a:off x="6018422" y="841016"/>
              <a:ext cx="461665" cy="152278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米の生産量</a:t>
              </a:r>
              <a:r>
                <a:rPr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(t)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9FCE2A2F-246E-4C1A-8850-E17CED254DAB}"/>
                </a:ext>
              </a:extLst>
            </p:cNvPr>
            <p:cNvSpPr txBox="1"/>
            <p:nvPr/>
          </p:nvSpPr>
          <p:spPr>
            <a:xfrm>
              <a:off x="9368711" y="5678430"/>
              <a:ext cx="17169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車の生産量</a:t>
              </a:r>
              <a:r>
                <a:rPr kumimoji="1" lang="en-US" altLang="ja-JP" sz="16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 (</a:t>
              </a:r>
              <a:r>
                <a:rPr kumimoji="1" lang="ja-JP" altLang="en-US" sz="1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台</a:t>
              </a:r>
              <a:r>
                <a:rPr kumimoji="1" lang="en-US" altLang="ja-JP" sz="16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)</a:t>
              </a:r>
              <a:endParaRPr kumimoji="1" lang="ja-JP" altLang="en-US" sz="16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5D74FDD0-D856-B219-1461-A207387FFCFA}"/>
                </a:ext>
              </a:extLst>
            </p:cNvPr>
            <p:cNvSpPr txBox="1"/>
            <p:nvPr/>
          </p:nvSpPr>
          <p:spPr>
            <a:xfrm>
              <a:off x="1323969" y="854181"/>
              <a:ext cx="800219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/>
                <a:t>日本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82DACD8B-F473-14EA-A599-7EAA936B7F04}"/>
                </a:ext>
              </a:extLst>
            </p:cNvPr>
            <p:cNvSpPr txBox="1"/>
            <p:nvPr/>
          </p:nvSpPr>
          <p:spPr>
            <a:xfrm>
              <a:off x="6566861" y="854181"/>
              <a:ext cx="800219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/>
                <a:t>中国</a:t>
              </a:r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D42E2C03-D995-7D74-10A6-819D92DE8A47}"/>
                </a:ext>
              </a:extLst>
            </p:cNvPr>
            <p:cNvCxnSpPr>
              <a:cxnSpLocks/>
            </p:cNvCxnSpPr>
            <p:nvPr/>
          </p:nvCxnSpPr>
          <p:spPr>
            <a:xfrm>
              <a:off x="1241418" y="3987416"/>
              <a:ext cx="3834319" cy="1685772"/>
            </a:xfrm>
            <a:prstGeom prst="line">
              <a:avLst/>
            </a:prstGeom>
            <a:ln w="222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E848F047-9119-457D-AC08-2924B9BF7C4E}"/>
                </a:ext>
              </a:extLst>
            </p:cNvPr>
            <p:cNvSpPr txBox="1"/>
            <p:nvPr/>
          </p:nvSpPr>
          <p:spPr>
            <a:xfrm>
              <a:off x="193535" y="3798361"/>
              <a:ext cx="1111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(0, 350)</a:t>
              </a: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E88DACAD-EAA6-F698-B1A2-A88FE5B0CC9A}"/>
                </a:ext>
              </a:extLst>
            </p:cNvPr>
            <p:cNvSpPr txBox="1"/>
            <p:nvPr/>
          </p:nvSpPr>
          <p:spPr>
            <a:xfrm>
              <a:off x="7386346" y="894671"/>
              <a:ext cx="19030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労働力</a:t>
              </a:r>
              <a:r>
                <a:rPr kumimoji="1"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3500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人</a:t>
              </a:r>
              <a:endParaRPr kumimoji="1" lang="en-US" altLang="ja-JP" sz="1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4136DE2E-1DC7-B9BD-F58B-8E495B59B658}"/>
                </a:ext>
              </a:extLst>
            </p:cNvPr>
            <p:cNvSpPr txBox="1"/>
            <p:nvPr/>
          </p:nvSpPr>
          <p:spPr>
            <a:xfrm>
              <a:off x="3696940" y="4124904"/>
              <a:ext cx="1422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(300, 200)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F489F8A0-728B-C1C7-FCBF-10EB80F39293}"/>
                </a:ext>
              </a:extLst>
            </p:cNvPr>
            <p:cNvSpPr txBox="1"/>
            <p:nvPr/>
          </p:nvSpPr>
          <p:spPr>
            <a:xfrm>
              <a:off x="7243924" y="3092375"/>
              <a:ext cx="14221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(200, 300)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33" name="円/楕円 32">
              <a:extLst>
                <a:ext uri="{FF2B5EF4-FFF2-40B4-BE49-F238E27FC236}">
                  <a16:creationId xmlns:a16="http://schemas.microsoft.com/office/drawing/2014/main" id="{D270FBB2-9FD1-12FE-79EB-4302CF4DF494}"/>
                </a:ext>
              </a:extLst>
            </p:cNvPr>
            <p:cNvSpPr/>
            <p:nvPr/>
          </p:nvSpPr>
          <p:spPr>
            <a:xfrm>
              <a:off x="3669155" y="4971916"/>
              <a:ext cx="195476" cy="19547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4" name="曲線コネクタ 33">
              <a:extLst>
                <a:ext uri="{FF2B5EF4-FFF2-40B4-BE49-F238E27FC236}">
                  <a16:creationId xmlns:a16="http://schemas.microsoft.com/office/drawing/2014/main" id="{E6D219BF-5F77-46C6-0A18-376E1BB84341}"/>
                </a:ext>
              </a:extLst>
            </p:cNvPr>
            <p:cNvCxnSpPr>
              <a:cxnSpLocks/>
              <a:stCxn id="2" idx="2"/>
              <a:endCxn id="33" idx="6"/>
            </p:cNvCxnSpPr>
            <p:nvPr/>
          </p:nvCxnSpPr>
          <p:spPr>
            <a:xfrm rot="5400000">
              <a:off x="3848623" y="4510245"/>
              <a:ext cx="575418" cy="543401"/>
            </a:xfrm>
            <a:prstGeom prst="curvedConnector2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円/楕円 38">
              <a:extLst>
                <a:ext uri="{FF2B5EF4-FFF2-40B4-BE49-F238E27FC236}">
                  <a16:creationId xmlns:a16="http://schemas.microsoft.com/office/drawing/2014/main" id="{FB0E0D3F-9115-4B1C-1182-89783A16770B}"/>
                </a:ext>
              </a:extLst>
            </p:cNvPr>
            <p:cNvSpPr/>
            <p:nvPr/>
          </p:nvSpPr>
          <p:spPr>
            <a:xfrm>
              <a:off x="7326551" y="3844616"/>
              <a:ext cx="195476" cy="19547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0" name="曲線コネクタ 39">
              <a:extLst>
                <a:ext uri="{FF2B5EF4-FFF2-40B4-BE49-F238E27FC236}">
                  <a16:creationId xmlns:a16="http://schemas.microsoft.com/office/drawing/2014/main" id="{930C8B83-2624-5E0D-0F27-CB7F38A33138}"/>
                </a:ext>
              </a:extLst>
            </p:cNvPr>
            <p:cNvCxnSpPr>
              <a:cxnSpLocks/>
              <a:stCxn id="32" idx="2"/>
              <a:endCxn id="39" idx="6"/>
            </p:cNvCxnSpPr>
            <p:nvPr/>
          </p:nvCxnSpPr>
          <p:spPr>
            <a:xfrm rot="5400000">
              <a:off x="7498199" y="3485536"/>
              <a:ext cx="480647" cy="432989"/>
            </a:xfrm>
            <a:prstGeom prst="curvedConnector2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三角形 42">
              <a:extLst>
                <a:ext uri="{FF2B5EF4-FFF2-40B4-BE49-F238E27FC236}">
                  <a16:creationId xmlns:a16="http://schemas.microsoft.com/office/drawing/2014/main" id="{A881211C-C6A3-47F0-D0D7-559989855049}"/>
                </a:ext>
              </a:extLst>
            </p:cNvPr>
            <p:cNvSpPr/>
            <p:nvPr/>
          </p:nvSpPr>
          <p:spPr>
            <a:xfrm>
              <a:off x="2414473" y="4530081"/>
              <a:ext cx="1057877" cy="463693"/>
            </a:xfrm>
            <a:prstGeom prst="triangle">
              <a:avLst>
                <a:gd name="adj" fmla="val 0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9E989B04-3AF1-42EA-4DBE-0CF8A8C1C587}"/>
                </a:ext>
              </a:extLst>
            </p:cNvPr>
            <p:cNvSpPr txBox="1"/>
            <p:nvPr/>
          </p:nvSpPr>
          <p:spPr>
            <a:xfrm>
              <a:off x="2301411" y="5024320"/>
              <a:ext cx="22749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>
                  <a:solidFill>
                    <a:srgbClr val="FF0000"/>
                  </a:solidFill>
                </a:rPr>
                <a:t>傾き：</a:t>
              </a:r>
              <a:r>
                <a:rPr kumimoji="1" lang="en-US" altLang="ja-JP" b="1" dirty="0">
                  <a:solidFill>
                    <a:srgbClr val="FF0000"/>
                  </a:solidFill>
                </a:rPr>
                <a:t>0.5</a:t>
              </a:r>
            </a:p>
            <a:p>
              <a:r>
                <a:rPr lang="en-US" altLang="ja-JP" b="1" dirty="0">
                  <a:solidFill>
                    <a:srgbClr val="FF0000"/>
                  </a:solidFill>
                </a:rPr>
                <a:t>(=</a:t>
              </a:r>
              <a:r>
                <a:rPr lang="ja-JP" altLang="en-US" b="1">
                  <a:solidFill>
                    <a:srgbClr val="FF0000"/>
                  </a:solidFill>
                </a:rPr>
                <a:t>貿易前相対価格）</a:t>
              </a:r>
              <a:endParaRPr kumimoji="1" lang="ja-JP" altLang="en-US" b="1">
                <a:solidFill>
                  <a:srgbClr val="FF0000"/>
                </a:solidFill>
              </a:endParaRPr>
            </a:p>
          </p:txBody>
        </p:sp>
        <p:sp>
          <p:nvSpPr>
            <p:cNvPr id="45" name="三角形 44">
              <a:extLst>
                <a:ext uri="{FF2B5EF4-FFF2-40B4-BE49-F238E27FC236}">
                  <a16:creationId xmlns:a16="http://schemas.microsoft.com/office/drawing/2014/main" id="{17A8A3F7-DE01-3950-259C-BD0C91A36B69}"/>
                </a:ext>
              </a:extLst>
            </p:cNvPr>
            <p:cNvSpPr/>
            <p:nvPr/>
          </p:nvSpPr>
          <p:spPr>
            <a:xfrm>
              <a:off x="7524884" y="4177216"/>
              <a:ext cx="599776" cy="913924"/>
            </a:xfrm>
            <a:prstGeom prst="triangle">
              <a:avLst>
                <a:gd name="adj" fmla="val 0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362A1B6C-6E35-1E14-051A-E82B70E85941}"/>
                </a:ext>
              </a:extLst>
            </p:cNvPr>
            <p:cNvSpPr txBox="1"/>
            <p:nvPr/>
          </p:nvSpPr>
          <p:spPr>
            <a:xfrm>
              <a:off x="6807019" y="5111317"/>
              <a:ext cx="25935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>
                  <a:solidFill>
                    <a:srgbClr val="FF0000"/>
                  </a:solidFill>
                </a:rPr>
                <a:t>傾き：</a:t>
              </a:r>
              <a:r>
                <a:rPr kumimoji="1" lang="en-US" altLang="ja-JP" b="1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ja-JP" altLang="en-US" b="1">
                  <a:solidFill>
                    <a:srgbClr val="FF0000"/>
                  </a:solidFill>
                </a:rPr>
                <a:t>（＝貿易前相対価格）</a:t>
              </a:r>
              <a:endParaRPr kumimoji="1" lang="ja-JP" altLang="en-US" b="1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1424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B74BF-3907-F2DD-6C2C-AF95B719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8B510120-B4FE-1F2A-988A-0068534962F5}"/>
              </a:ext>
            </a:extLst>
          </p:cNvPr>
          <p:cNvGrpSpPr/>
          <p:nvPr/>
        </p:nvGrpSpPr>
        <p:grpSpPr>
          <a:xfrm>
            <a:off x="193535" y="841016"/>
            <a:ext cx="10892085" cy="5238489"/>
            <a:chOff x="193535" y="841016"/>
            <a:chExt cx="10892085" cy="5238489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077B0307-75CE-1C1B-2F72-20779EB2D3D9}"/>
                </a:ext>
              </a:extLst>
            </p:cNvPr>
            <p:cNvCxnSpPr/>
            <p:nvPr/>
          </p:nvCxnSpPr>
          <p:spPr>
            <a:xfrm flipV="1">
              <a:off x="1254398" y="854182"/>
              <a:ext cx="0" cy="4824248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032ABDE1-AB73-D82A-9B8C-1EAF18567880}"/>
                </a:ext>
              </a:extLst>
            </p:cNvPr>
            <p:cNvCxnSpPr>
              <a:cxnSpLocks/>
            </p:cNvCxnSpPr>
            <p:nvPr/>
          </p:nvCxnSpPr>
          <p:spPr>
            <a:xfrm>
              <a:off x="1254398" y="5678430"/>
              <a:ext cx="4477407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BF7F6DAC-CF86-FD0C-1939-08DC86B3333F}"/>
                </a:ext>
              </a:extLst>
            </p:cNvPr>
            <p:cNvSpPr txBox="1"/>
            <p:nvPr/>
          </p:nvSpPr>
          <p:spPr>
            <a:xfrm>
              <a:off x="4212247" y="5678430"/>
              <a:ext cx="16476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車の生産量</a:t>
              </a:r>
              <a:r>
                <a:rPr kumimoji="1" lang="en-US" altLang="ja-JP" sz="16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 (</a:t>
              </a:r>
              <a:r>
                <a:rPr kumimoji="1" lang="ja-JP" altLang="en-US" sz="1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台</a:t>
              </a:r>
              <a:r>
                <a:rPr kumimoji="1" lang="en-US" altLang="ja-JP" sz="16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)</a:t>
              </a:r>
              <a:endParaRPr kumimoji="1" lang="ja-JP" altLang="en-US" sz="16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EFCD4649-70D8-B095-96ED-C0A64F4F3F44}"/>
                </a:ext>
              </a:extLst>
            </p:cNvPr>
            <p:cNvCxnSpPr/>
            <p:nvPr/>
          </p:nvCxnSpPr>
          <p:spPr>
            <a:xfrm>
              <a:off x="6500158" y="2522076"/>
              <a:ext cx="2034022" cy="3156354"/>
            </a:xfrm>
            <a:prstGeom prst="line">
              <a:avLst/>
            </a:prstGeom>
            <a:ln w="222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4667061-22E7-0293-719B-ABBAB19060F4}"/>
                </a:ext>
              </a:extLst>
            </p:cNvPr>
            <p:cNvSpPr txBox="1"/>
            <p:nvPr/>
          </p:nvSpPr>
          <p:spPr>
            <a:xfrm>
              <a:off x="5400383" y="2399929"/>
              <a:ext cx="1111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(0, 700)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CC50E83B-B474-DD90-A6BE-DD1F15D03F13}"/>
                </a:ext>
              </a:extLst>
            </p:cNvPr>
            <p:cNvSpPr txBox="1"/>
            <p:nvPr/>
          </p:nvSpPr>
          <p:spPr>
            <a:xfrm>
              <a:off x="7955016" y="5710173"/>
              <a:ext cx="1111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(350, 0)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7A23711-0A72-7E2E-97DC-9C2BDF0DE069}"/>
                </a:ext>
              </a:extLst>
            </p:cNvPr>
            <p:cNvCxnSpPr/>
            <p:nvPr/>
          </p:nvCxnSpPr>
          <p:spPr>
            <a:xfrm flipV="1">
              <a:off x="6480087" y="854181"/>
              <a:ext cx="0" cy="4824248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8C07DF7D-A4AC-281D-30F4-33A8D32670FE}"/>
                </a:ext>
              </a:extLst>
            </p:cNvPr>
            <p:cNvCxnSpPr>
              <a:cxnSpLocks/>
            </p:cNvCxnSpPr>
            <p:nvPr/>
          </p:nvCxnSpPr>
          <p:spPr>
            <a:xfrm>
              <a:off x="6480087" y="5678429"/>
              <a:ext cx="4477407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62F53491-50C3-B63A-4C95-A258016341D7}"/>
                </a:ext>
              </a:extLst>
            </p:cNvPr>
            <p:cNvSpPr txBox="1"/>
            <p:nvPr/>
          </p:nvSpPr>
          <p:spPr>
            <a:xfrm>
              <a:off x="2163443" y="884958"/>
              <a:ext cx="19030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労働力</a:t>
              </a:r>
              <a:r>
                <a:rPr kumimoji="1"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1400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人</a:t>
              </a:r>
              <a:endParaRPr kumimoji="1" lang="en-US" altLang="ja-JP" sz="1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5D2C8C10-E092-F0A4-F9BD-A18B972FB6BB}"/>
                </a:ext>
              </a:extLst>
            </p:cNvPr>
            <p:cNvSpPr txBox="1"/>
            <p:nvPr/>
          </p:nvSpPr>
          <p:spPr>
            <a:xfrm>
              <a:off x="4911414" y="5288467"/>
              <a:ext cx="1111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(700, 0)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EECD6C4B-63E1-57CF-CBE8-1FF5EDE7FD03}"/>
                </a:ext>
              </a:extLst>
            </p:cNvPr>
            <p:cNvSpPr txBox="1"/>
            <p:nvPr/>
          </p:nvSpPr>
          <p:spPr>
            <a:xfrm>
              <a:off x="800992" y="845404"/>
              <a:ext cx="461665" cy="152278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米の生産量</a:t>
              </a:r>
              <a:r>
                <a:rPr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(t)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EF7178D6-DB52-8D5F-40E9-5E5D91920E47}"/>
                </a:ext>
              </a:extLst>
            </p:cNvPr>
            <p:cNvSpPr txBox="1"/>
            <p:nvPr/>
          </p:nvSpPr>
          <p:spPr>
            <a:xfrm>
              <a:off x="6018422" y="841016"/>
              <a:ext cx="461665" cy="152278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米の生産量</a:t>
              </a:r>
              <a:r>
                <a:rPr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(t)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1C1777C6-D066-6B2E-4361-C0E6466995B2}"/>
                </a:ext>
              </a:extLst>
            </p:cNvPr>
            <p:cNvSpPr txBox="1"/>
            <p:nvPr/>
          </p:nvSpPr>
          <p:spPr>
            <a:xfrm>
              <a:off x="9368711" y="5678430"/>
              <a:ext cx="17169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車の生産量</a:t>
              </a:r>
              <a:r>
                <a:rPr kumimoji="1" lang="en-US" altLang="ja-JP" sz="16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 (</a:t>
              </a:r>
              <a:r>
                <a:rPr kumimoji="1" lang="ja-JP" altLang="en-US" sz="1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台</a:t>
              </a:r>
              <a:r>
                <a:rPr kumimoji="1" lang="en-US" altLang="ja-JP" sz="16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)</a:t>
              </a:r>
              <a:endParaRPr kumimoji="1" lang="ja-JP" altLang="en-US" sz="16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F1F40E8B-E603-DDB8-0A32-0EBCC64B5402}"/>
                </a:ext>
              </a:extLst>
            </p:cNvPr>
            <p:cNvSpPr txBox="1"/>
            <p:nvPr/>
          </p:nvSpPr>
          <p:spPr>
            <a:xfrm>
              <a:off x="1323969" y="854181"/>
              <a:ext cx="800219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/>
                <a:t>日本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E04A5367-C1BA-DACC-2286-AE785351BDAC}"/>
                </a:ext>
              </a:extLst>
            </p:cNvPr>
            <p:cNvSpPr txBox="1"/>
            <p:nvPr/>
          </p:nvSpPr>
          <p:spPr>
            <a:xfrm>
              <a:off x="6566861" y="854181"/>
              <a:ext cx="800219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/>
                <a:t>中国</a:t>
              </a:r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C225DD86-0EDE-3135-9402-5FED825DB29F}"/>
                </a:ext>
              </a:extLst>
            </p:cNvPr>
            <p:cNvCxnSpPr>
              <a:cxnSpLocks/>
            </p:cNvCxnSpPr>
            <p:nvPr/>
          </p:nvCxnSpPr>
          <p:spPr>
            <a:xfrm>
              <a:off x="1241418" y="3987416"/>
              <a:ext cx="3834319" cy="1685772"/>
            </a:xfrm>
            <a:prstGeom prst="line">
              <a:avLst/>
            </a:prstGeom>
            <a:ln w="222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8193ECC6-116F-443B-3850-0FA66ED79517}"/>
                </a:ext>
              </a:extLst>
            </p:cNvPr>
            <p:cNvSpPr txBox="1"/>
            <p:nvPr/>
          </p:nvSpPr>
          <p:spPr>
            <a:xfrm>
              <a:off x="193535" y="3798361"/>
              <a:ext cx="1111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(0, 350)</a:t>
              </a: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8D84F631-9C5D-AC3C-A830-A3542905B862}"/>
                </a:ext>
              </a:extLst>
            </p:cNvPr>
            <p:cNvSpPr txBox="1"/>
            <p:nvPr/>
          </p:nvSpPr>
          <p:spPr>
            <a:xfrm>
              <a:off x="7386346" y="894671"/>
              <a:ext cx="19030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労働力</a:t>
              </a:r>
              <a:r>
                <a:rPr kumimoji="1"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3500</a:t>
              </a:r>
              <a:r>
                <a:rPr kumimoji="1" lang="ja-JP" altLang="en-US" sz="2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人</a:t>
              </a:r>
              <a:endParaRPr kumimoji="1" lang="en-US" altLang="ja-JP" sz="1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91609CDF-92B2-F8C6-2D64-4F25BB4A4F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75597" y="2502618"/>
              <a:ext cx="3334012" cy="3148577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三角形 19">
              <a:extLst>
                <a:ext uri="{FF2B5EF4-FFF2-40B4-BE49-F238E27FC236}">
                  <a16:creationId xmlns:a16="http://schemas.microsoft.com/office/drawing/2014/main" id="{B206B8FC-EEC0-E0BC-E984-1E5C36BE065B}"/>
                </a:ext>
              </a:extLst>
            </p:cNvPr>
            <p:cNvSpPr/>
            <p:nvPr/>
          </p:nvSpPr>
          <p:spPr>
            <a:xfrm>
              <a:off x="2585945" y="3325001"/>
              <a:ext cx="774878" cy="727533"/>
            </a:xfrm>
            <a:prstGeom prst="triangle">
              <a:avLst>
                <a:gd name="adj" fmla="val 0"/>
              </a:avLst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三角形 20">
              <a:extLst>
                <a:ext uri="{FF2B5EF4-FFF2-40B4-BE49-F238E27FC236}">
                  <a16:creationId xmlns:a16="http://schemas.microsoft.com/office/drawing/2014/main" id="{DC1D008B-E0C7-0343-6CD9-5FD1092726C1}"/>
                </a:ext>
              </a:extLst>
            </p:cNvPr>
            <p:cNvSpPr/>
            <p:nvPr/>
          </p:nvSpPr>
          <p:spPr>
            <a:xfrm>
              <a:off x="7663762" y="3623742"/>
              <a:ext cx="774878" cy="727533"/>
            </a:xfrm>
            <a:prstGeom prst="triangle">
              <a:avLst>
                <a:gd name="adj" fmla="val 0"/>
              </a:avLst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85398D44-C841-B18C-0DA0-7CC582C1F2D1}"/>
                </a:ext>
              </a:extLst>
            </p:cNvPr>
            <p:cNvSpPr txBox="1"/>
            <p:nvPr/>
          </p:nvSpPr>
          <p:spPr>
            <a:xfrm>
              <a:off x="3776335" y="2765437"/>
              <a:ext cx="27238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u="sng">
                  <a:solidFill>
                    <a:srgbClr val="0070C0"/>
                  </a:solidFill>
                </a:rPr>
                <a:t>消費可能性フロンティア</a:t>
              </a:r>
              <a:endParaRPr kumimoji="1" lang="en-US" altLang="ja-JP" b="1" u="sng" dirty="0">
                <a:solidFill>
                  <a:srgbClr val="0070C0"/>
                </a:solidFill>
              </a:endParaRPr>
            </a:p>
            <a:p>
              <a:r>
                <a:rPr kumimoji="1" lang="ja-JP" altLang="en-US" b="1">
                  <a:solidFill>
                    <a:srgbClr val="0070C0"/>
                  </a:solidFill>
                </a:rPr>
                <a:t>傾き：</a:t>
              </a:r>
              <a:r>
                <a:rPr kumimoji="1" lang="en-US" altLang="ja-JP" b="1" dirty="0">
                  <a:solidFill>
                    <a:srgbClr val="0070C0"/>
                  </a:solidFill>
                </a:rPr>
                <a:t>0.5〜2</a:t>
              </a:r>
            </a:p>
            <a:p>
              <a:r>
                <a:rPr lang="ja-JP" altLang="en-US" b="1">
                  <a:solidFill>
                    <a:srgbClr val="0070C0"/>
                  </a:solidFill>
                </a:rPr>
                <a:t>（＝貿易後相対価格）</a:t>
              </a:r>
              <a:endParaRPr kumimoji="1" lang="ja-JP" altLang="en-US" b="1">
                <a:solidFill>
                  <a:srgbClr val="0070C0"/>
                </a:solidFill>
              </a:endParaRPr>
            </a:p>
          </p:txBody>
        </p:sp>
        <p:cxnSp>
          <p:nvCxnSpPr>
            <p:cNvPr id="24" name="曲線コネクタ 23">
              <a:extLst>
                <a:ext uri="{FF2B5EF4-FFF2-40B4-BE49-F238E27FC236}">
                  <a16:creationId xmlns:a16="http://schemas.microsoft.com/office/drawing/2014/main" id="{6BB3912B-FFC3-431D-5477-B64065C5826B}"/>
                </a:ext>
              </a:extLst>
            </p:cNvPr>
            <p:cNvCxnSpPr>
              <a:cxnSpLocks/>
              <a:stCxn id="23" idx="3"/>
              <a:endCxn id="21" idx="1"/>
            </p:cNvCxnSpPr>
            <p:nvPr/>
          </p:nvCxnSpPr>
          <p:spPr>
            <a:xfrm>
              <a:off x="6500158" y="3227102"/>
              <a:ext cx="1163604" cy="760407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曲線コネクタ 24">
              <a:extLst>
                <a:ext uri="{FF2B5EF4-FFF2-40B4-BE49-F238E27FC236}">
                  <a16:creationId xmlns:a16="http://schemas.microsoft.com/office/drawing/2014/main" id="{4F45B140-40E3-E63D-138F-4E13D5543C5E}"/>
                </a:ext>
              </a:extLst>
            </p:cNvPr>
            <p:cNvCxnSpPr>
              <a:cxnSpLocks/>
              <a:stCxn id="23" idx="1"/>
              <a:endCxn id="20" idx="5"/>
            </p:cNvCxnSpPr>
            <p:nvPr/>
          </p:nvCxnSpPr>
          <p:spPr>
            <a:xfrm rot="10800000" flipV="1">
              <a:off x="2973385" y="3227102"/>
              <a:ext cx="802951" cy="461666"/>
            </a:xfrm>
            <a:prstGeom prst="curvedConnector3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D8AC888A-1014-EA71-74E9-BA16F587DE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1418" y="2050103"/>
              <a:ext cx="3800400" cy="3589025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円/楕円 32">
              <a:extLst>
                <a:ext uri="{FF2B5EF4-FFF2-40B4-BE49-F238E27FC236}">
                  <a16:creationId xmlns:a16="http://schemas.microsoft.com/office/drawing/2014/main" id="{D14C4FAA-B387-778D-A27D-207C367155D9}"/>
                </a:ext>
              </a:extLst>
            </p:cNvPr>
            <p:cNvSpPr/>
            <p:nvPr/>
          </p:nvSpPr>
          <p:spPr>
            <a:xfrm>
              <a:off x="4954115" y="5549085"/>
              <a:ext cx="195476" cy="19547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円/楕円 35">
              <a:extLst>
                <a:ext uri="{FF2B5EF4-FFF2-40B4-BE49-F238E27FC236}">
                  <a16:creationId xmlns:a16="http://schemas.microsoft.com/office/drawing/2014/main" id="{EAEDCCEC-0AA6-2A34-71F1-B9F432D9E470}"/>
                </a:ext>
              </a:extLst>
            </p:cNvPr>
            <p:cNvSpPr/>
            <p:nvPr/>
          </p:nvSpPr>
          <p:spPr>
            <a:xfrm>
              <a:off x="6392385" y="2431140"/>
              <a:ext cx="195476" cy="19547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三角形 36">
              <a:extLst>
                <a:ext uri="{FF2B5EF4-FFF2-40B4-BE49-F238E27FC236}">
                  <a16:creationId xmlns:a16="http://schemas.microsoft.com/office/drawing/2014/main" id="{7407BF9F-4ACA-D435-BC0F-6B67D05073FB}"/>
                </a:ext>
              </a:extLst>
            </p:cNvPr>
            <p:cNvSpPr/>
            <p:nvPr/>
          </p:nvSpPr>
          <p:spPr>
            <a:xfrm>
              <a:off x="2414473" y="4530081"/>
              <a:ext cx="1057877" cy="463693"/>
            </a:xfrm>
            <a:prstGeom prst="triangle">
              <a:avLst>
                <a:gd name="adj" fmla="val 0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E5AEE830-A99B-B147-A23B-7D9EFBBEE562}"/>
                </a:ext>
              </a:extLst>
            </p:cNvPr>
            <p:cNvSpPr txBox="1"/>
            <p:nvPr/>
          </p:nvSpPr>
          <p:spPr>
            <a:xfrm>
              <a:off x="2301411" y="5024320"/>
              <a:ext cx="22749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>
                  <a:solidFill>
                    <a:srgbClr val="FF0000"/>
                  </a:solidFill>
                </a:rPr>
                <a:t>傾き：</a:t>
              </a:r>
              <a:r>
                <a:rPr kumimoji="1" lang="en-US" altLang="ja-JP" b="1" dirty="0">
                  <a:solidFill>
                    <a:srgbClr val="FF0000"/>
                  </a:solidFill>
                </a:rPr>
                <a:t>0.5</a:t>
              </a:r>
            </a:p>
            <a:p>
              <a:r>
                <a:rPr lang="en-US" altLang="ja-JP" b="1" dirty="0">
                  <a:solidFill>
                    <a:srgbClr val="FF0000"/>
                  </a:solidFill>
                </a:rPr>
                <a:t>(=</a:t>
              </a:r>
              <a:r>
                <a:rPr lang="ja-JP" altLang="en-US" b="1">
                  <a:solidFill>
                    <a:srgbClr val="FF0000"/>
                  </a:solidFill>
                </a:rPr>
                <a:t>貿易前相対価格）</a:t>
              </a:r>
              <a:endParaRPr kumimoji="1" lang="ja-JP" altLang="en-US" b="1">
                <a:solidFill>
                  <a:srgbClr val="FF0000"/>
                </a:solidFill>
              </a:endParaRPr>
            </a:p>
          </p:txBody>
        </p:sp>
        <p:sp>
          <p:nvSpPr>
            <p:cNvPr id="41" name="三角形 40">
              <a:extLst>
                <a:ext uri="{FF2B5EF4-FFF2-40B4-BE49-F238E27FC236}">
                  <a16:creationId xmlns:a16="http://schemas.microsoft.com/office/drawing/2014/main" id="{B43E7168-2B00-D7A0-55DE-28C881504DFF}"/>
                </a:ext>
              </a:extLst>
            </p:cNvPr>
            <p:cNvSpPr/>
            <p:nvPr/>
          </p:nvSpPr>
          <p:spPr>
            <a:xfrm>
              <a:off x="7524884" y="4177216"/>
              <a:ext cx="599776" cy="913924"/>
            </a:xfrm>
            <a:prstGeom prst="triangle">
              <a:avLst>
                <a:gd name="adj" fmla="val 0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EDE78F58-8FA8-0265-429D-C8BCABE17826}"/>
                </a:ext>
              </a:extLst>
            </p:cNvPr>
            <p:cNvSpPr txBox="1"/>
            <p:nvPr/>
          </p:nvSpPr>
          <p:spPr>
            <a:xfrm>
              <a:off x="6807019" y="5111317"/>
              <a:ext cx="25935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>
                  <a:solidFill>
                    <a:srgbClr val="FF0000"/>
                  </a:solidFill>
                </a:rPr>
                <a:t>傾き：</a:t>
              </a:r>
              <a:r>
                <a:rPr kumimoji="1" lang="en-US" altLang="ja-JP" b="1" dirty="0">
                  <a:solidFill>
                    <a:srgbClr val="FF0000"/>
                  </a:solidFill>
                </a:rPr>
                <a:t>2</a:t>
              </a:r>
            </a:p>
            <a:p>
              <a:r>
                <a:rPr lang="ja-JP" altLang="en-US" b="1">
                  <a:solidFill>
                    <a:srgbClr val="FF0000"/>
                  </a:solidFill>
                </a:rPr>
                <a:t>（＝貿易前相対価格）</a:t>
              </a:r>
              <a:endParaRPr kumimoji="1" lang="ja-JP" altLang="en-US" b="1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35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29E4EC7-E422-D6CF-3D99-02C1163595AD}"/>
              </a:ext>
            </a:extLst>
          </p:cNvPr>
          <p:cNvGrpSpPr/>
          <p:nvPr/>
        </p:nvGrpSpPr>
        <p:grpSpPr>
          <a:xfrm>
            <a:off x="2745402" y="1360418"/>
            <a:ext cx="7393653" cy="4137163"/>
            <a:chOff x="3872110" y="845404"/>
            <a:chExt cx="5302143" cy="5171580"/>
          </a:xfrm>
        </p:grpSpPr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3310553A-A0E8-62FA-96D3-44E48BE71F98}"/>
                </a:ext>
              </a:extLst>
            </p:cNvPr>
            <p:cNvCxnSpPr/>
            <p:nvPr/>
          </p:nvCxnSpPr>
          <p:spPr>
            <a:xfrm flipV="1">
              <a:off x="4333775" y="854182"/>
              <a:ext cx="0" cy="4824248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7384C4A8-DB33-6296-997E-1D7197536C60}"/>
                </a:ext>
              </a:extLst>
            </p:cNvPr>
            <p:cNvCxnSpPr>
              <a:cxnSpLocks/>
            </p:cNvCxnSpPr>
            <p:nvPr/>
          </p:nvCxnSpPr>
          <p:spPr>
            <a:xfrm>
              <a:off x="4333775" y="5678430"/>
              <a:ext cx="4477407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EC918E0-8147-C04B-3025-957619E40673}"/>
                </a:ext>
              </a:extLst>
            </p:cNvPr>
            <p:cNvSpPr txBox="1"/>
            <p:nvPr/>
          </p:nvSpPr>
          <p:spPr>
            <a:xfrm>
              <a:off x="7526568" y="5678430"/>
              <a:ext cx="16476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投入労働量</a:t>
              </a:r>
              <a:endParaRPr kumimoji="1" lang="ja-JP" altLang="en-US" sz="16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A503A722-7666-5A1A-F3AF-5CE6F8E54158}"/>
                </a:ext>
              </a:extLst>
            </p:cNvPr>
            <p:cNvSpPr txBox="1"/>
            <p:nvPr/>
          </p:nvSpPr>
          <p:spPr>
            <a:xfrm>
              <a:off x="3872110" y="845404"/>
              <a:ext cx="461665" cy="152278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ja-JP" altLang="en-US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生産量</a:t>
              </a:r>
              <a:endParaRPr kumimoji="1" lang="ja-JP" altLang="en-US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3" name="フリーフォーム 12">
              <a:extLst>
                <a:ext uri="{FF2B5EF4-FFF2-40B4-BE49-F238E27FC236}">
                  <a16:creationId xmlns:a16="http://schemas.microsoft.com/office/drawing/2014/main" id="{A6D18045-720E-9987-1573-819576E34B31}"/>
                </a:ext>
              </a:extLst>
            </p:cNvPr>
            <p:cNvSpPr/>
            <p:nvPr/>
          </p:nvSpPr>
          <p:spPr>
            <a:xfrm>
              <a:off x="4358936" y="1748907"/>
              <a:ext cx="4305670" cy="3915046"/>
            </a:xfrm>
            <a:custGeom>
              <a:avLst/>
              <a:gdLst>
                <a:gd name="csX0" fmla="*/ 0 w 4305670"/>
                <a:gd name="csY0" fmla="*/ 3542190 h 3542190"/>
                <a:gd name="csX1" fmla="*/ 1358283 w 4305670"/>
                <a:gd name="csY1" fmla="*/ 1074198 h 3542190"/>
                <a:gd name="csX2" fmla="*/ 4305670 w 4305670"/>
                <a:gd name="csY2" fmla="*/ 0 h 35421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05670" h="3542190">
                  <a:moveTo>
                    <a:pt x="0" y="3542190"/>
                  </a:moveTo>
                  <a:cubicBezTo>
                    <a:pt x="320335" y="2603376"/>
                    <a:pt x="640671" y="1664563"/>
                    <a:pt x="1358283" y="1074198"/>
                  </a:cubicBezTo>
                  <a:cubicBezTo>
                    <a:pt x="2075895" y="483833"/>
                    <a:pt x="3190782" y="241916"/>
                    <a:pt x="4305670" y="0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6967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E2C9751-1CBE-6F75-3A0E-B1B815D4585A}"/>
              </a:ext>
            </a:extLst>
          </p:cNvPr>
          <p:cNvGrpSpPr/>
          <p:nvPr/>
        </p:nvGrpSpPr>
        <p:grpSpPr>
          <a:xfrm>
            <a:off x="766152" y="390292"/>
            <a:ext cx="9994775" cy="6304768"/>
            <a:chOff x="766152" y="390292"/>
            <a:chExt cx="9994775" cy="6304768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5D974A56-BE31-F991-3AB0-48BB409C0071}"/>
                </a:ext>
              </a:extLst>
            </p:cNvPr>
            <p:cNvCxnSpPr>
              <a:cxnSpLocks/>
            </p:cNvCxnSpPr>
            <p:nvPr/>
          </p:nvCxnSpPr>
          <p:spPr>
            <a:xfrm>
              <a:off x="1320150" y="6216979"/>
              <a:ext cx="94407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1C121E92-E783-AFAE-BA62-4111B1CBB6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0150" y="390293"/>
              <a:ext cx="0" cy="58266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FF810532-EDE3-6DE0-72BA-7387C86A936D}"/>
                </a:ext>
              </a:extLst>
            </p:cNvPr>
            <p:cNvSpPr txBox="1"/>
            <p:nvPr/>
          </p:nvSpPr>
          <p:spPr>
            <a:xfrm>
              <a:off x="9248061" y="6233395"/>
              <a:ext cx="1512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車関税率</a:t>
              </a: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520EFE3-8F6F-F8FD-0B1A-55AB9411BDF6}"/>
                </a:ext>
              </a:extLst>
            </p:cNvPr>
            <p:cNvSpPr txBox="1"/>
            <p:nvPr/>
          </p:nvSpPr>
          <p:spPr>
            <a:xfrm>
              <a:off x="766152" y="390292"/>
              <a:ext cx="553998" cy="132343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肉関税率</a:t>
              </a: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4E1AEB85-1349-32C4-F02E-23263C73DE24}"/>
                </a:ext>
              </a:extLst>
            </p:cNvPr>
            <p:cNvGrpSpPr/>
            <p:nvPr/>
          </p:nvGrpSpPr>
          <p:grpSpPr>
            <a:xfrm>
              <a:off x="2354479" y="390292"/>
              <a:ext cx="4180231" cy="4180231"/>
              <a:chOff x="1930271" y="273182"/>
              <a:chExt cx="4180231" cy="4180231"/>
            </a:xfrm>
          </p:grpSpPr>
          <p:sp>
            <p:nvSpPr>
              <p:cNvPr id="21" name="円/楕円 20">
                <a:extLst>
                  <a:ext uri="{FF2B5EF4-FFF2-40B4-BE49-F238E27FC236}">
                    <a16:creationId xmlns:a16="http://schemas.microsoft.com/office/drawing/2014/main" id="{32BFC14F-9012-DF12-D0A5-22BC6E45FCE6}"/>
                  </a:ext>
                </a:extLst>
              </p:cNvPr>
              <p:cNvSpPr/>
              <p:nvPr/>
            </p:nvSpPr>
            <p:spPr>
              <a:xfrm>
                <a:off x="3945487" y="2247163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7712D7F2-2353-03CB-F249-ECBCE4248A01}"/>
                  </a:ext>
                </a:extLst>
              </p:cNvPr>
              <p:cNvSpPr txBox="1"/>
              <p:nvPr/>
            </p:nvSpPr>
            <p:spPr>
              <a:xfrm>
                <a:off x="3491129" y="2441089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日本</a:t>
                </a:r>
              </a:p>
            </p:txBody>
          </p:sp>
          <p:sp>
            <p:nvSpPr>
              <p:cNvPr id="23" name="円/楕円 22">
                <a:extLst>
                  <a:ext uri="{FF2B5EF4-FFF2-40B4-BE49-F238E27FC236}">
                    <a16:creationId xmlns:a16="http://schemas.microsoft.com/office/drawing/2014/main" id="{34B8D924-6630-E7A4-D42E-C2685DC7E19E}"/>
                  </a:ext>
                </a:extLst>
              </p:cNvPr>
              <p:cNvSpPr/>
              <p:nvPr/>
            </p:nvSpPr>
            <p:spPr>
              <a:xfrm>
                <a:off x="1930271" y="273182"/>
                <a:ext cx="4180231" cy="418023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6413FA51-F5E2-45D5-7FC5-9410F8585A91}"/>
                </a:ext>
              </a:extLst>
            </p:cNvPr>
            <p:cNvGrpSpPr/>
            <p:nvPr/>
          </p:nvGrpSpPr>
          <p:grpSpPr>
            <a:xfrm>
              <a:off x="5433827" y="1926096"/>
              <a:ext cx="4180231" cy="4180231"/>
              <a:chOff x="5450156" y="1722167"/>
              <a:chExt cx="4180231" cy="4180231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64AD0313-0D9B-8EC7-E479-8DFF12994DA7}"/>
                  </a:ext>
                </a:extLst>
              </p:cNvPr>
              <p:cNvSpPr txBox="1"/>
              <p:nvPr/>
            </p:nvSpPr>
            <p:spPr>
              <a:xfrm>
                <a:off x="7012666" y="3887531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米国</a:t>
                </a:r>
              </a:p>
            </p:txBody>
          </p:sp>
          <p:sp>
            <p:nvSpPr>
              <p:cNvPr id="19" name="円/楕円 18">
                <a:extLst>
                  <a:ext uri="{FF2B5EF4-FFF2-40B4-BE49-F238E27FC236}">
                    <a16:creationId xmlns:a16="http://schemas.microsoft.com/office/drawing/2014/main" id="{565CDA8B-1956-CAB7-5632-FD4D23D94485}"/>
                  </a:ext>
                </a:extLst>
              </p:cNvPr>
              <p:cNvSpPr/>
              <p:nvPr/>
            </p:nvSpPr>
            <p:spPr>
              <a:xfrm>
                <a:off x="7467024" y="3716507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円/楕円 19">
                <a:extLst>
                  <a:ext uri="{FF2B5EF4-FFF2-40B4-BE49-F238E27FC236}">
                    <a16:creationId xmlns:a16="http://schemas.microsoft.com/office/drawing/2014/main" id="{B947CB25-D875-77C0-7C86-F0F87C6D6D4D}"/>
                  </a:ext>
                </a:extLst>
              </p:cNvPr>
              <p:cNvSpPr/>
              <p:nvPr/>
            </p:nvSpPr>
            <p:spPr>
              <a:xfrm>
                <a:off x="5450156" y="1722167"/>
                <a:ext cx="4180231" cy="418023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7581442C-8033-310B-3808-75A04AA81A27}"/>
                </a:ext>
              </a:extLst>
            </p:cNvPr>
            <p:cNvGrpSpPr/>
            <p:nvPr/>
          </p:nvGrpSpPr>
          <p:grpSpPr>
            <a:xfrm>
              <a:off x="6270771" y="1711020"/>
              <a:ext cx="1024577" cy="555608"/>
              <a:chOff x="6270771" y="1711020"/>
              <a:chExt cx="1024577" cy="555608"/>
            </a:xfrm>
          </p:grpSpPr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71828FA5-061C-AF5C-9C35-16A412F921AC}"/>
                  </a:ext>
                </a:extLst>
              </p:cNvPr>
              <p:cNvSpPr txBox="1"/>
              <p:nvPr/>
            </p:nvSpPr>
            <p:spPr>
              <a:xfrm>
                <a:off x="6270771" y="1711020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現状</a:t>
                </a:r>
              </a:p>
            </p:txBody>
          </p:sp>
          <p:sp>
            <p:nvSpPr>
              <p:cNvPr id="17" name="円/楕円 16">
                <a:extLst>
                  <a:ext uri="{FF2B5EF4-FFF2-40B4-BE49-F238E27FC236}">
                    <a16:creationId xmlns:a16="http://schemas.microsoft.com/office/drawing/2014/main" id="{527F636E-5B5D-DA3F-C107-8D5B20B7C845}"/>
                  </a:ext>
                </a:extLst>
              </p:cNvPr>
              <p:cNvSpPr/>
              <p:nvPr/>
            </p:nvSpPr>
            <p:spPr>
              <a:xfrm>
                <a:off x="6419541" y="2080078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579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F057E61F-C13B-435C-BE32-D177B1444EEF}"/>
              </a:ext>
            </a:extLst>
          </p:cNvPr>
          <p:cNvGrpSpPr/>
          <p:nvPr/>
        </p:nvGrpSpPr>
        <p:grpSpPr>
          <a:xfrm>
            <a:off x="766152" y="390292"/>
            <a:ext cx="9994775" cy="6304768"/>
            <a:chOff x="766152" y="390292"/>
            <a:chExt cx="9994775" cy="6304768"/>
          </a:xfrm>
        </p:grpSpPr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EB33F547-F7D8-7A97-03FB-4FAED7CA71DD}"/>
                </a:ext>
              </a:extLst>
            </p:cNvPr>
            <p:cNvCxnSpPr>
              <a:cxnSpLocks/>
            </p:cNvCxnSpPr>
            <p:nvPr/>
          </p:nvCxnSpPr>
          <p:spPr>
            <a:xfrm>
              <a:off x="1320150" y="6216979"/>
              <a:ext cx="94407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FD2BB151-BE11-1FD6-A469-149633D783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0150" y="390293"/>
              <a:ext cx="0" cy="58266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EB57F3C-0323-CCA4-7F64-727AD8DB7DF5}"/>
                </a:ext>
              </a:extLst>
            </p:cNvPr>
            <p:cNvSpPr txBox="1"/>
            <p:nvPr/>
          </p:nvSpPr>
          <p:spPr>
            <a:xfrm>
              <a:off x="9248061" y="6233395"/>
              <a:ext cx="1512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車関税率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3E19D6D4-DC2F-6F64-086A-3235F44D82DE}"/>
                </a:ext>
              </a:extLst>
            </p:cNvPr>
            <p:cNvSpPr txBox="1"/>
            <p:nvPr/>
          </p:nvSpPr>
          <p:spPr>
            <a:xfrm>
              <a:off x="766152" y="390292"/>
              <a:ext cx="553998" cy="132343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肉関税率</a:t>
              </a: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FF4AA89A-8567-F5F1-E3C2-3E6CBF59A7C7}"/>
                </a:ext>
              </a:extLst>
            </p:cNvPr>
            <p:cNvCxnSpPr>
              <a:cxnSpLocks/>
              <a:stCxn id="18" idx="0"/>
              <a:endCxn id="69" idx="3"/>
            </p:cNvCxnSpPr>
            <p:nvPr/>
          </p:nvCxnSpPr>
          <p:spPr>
            <a:xfrm flipV="1">
              <a:off x="3821015" y="5494146"/>
              <a:ext cx="2224993" cy="9456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CA4D3983-B276-B546-7750-72A6A245F87C}"/>
                </a:ext>
              </a:extLst>
            </p:cNvPr>
            <p:cNvCxnSpPr>
              <a:cxnSpLocks/>
              <a:stCxn id="18" idx="0"/>
              <a:endCxn id="56" idx="4"/>
            </p:cNvCxnSpPr>
            <p:nvPr/>
          </p:nvCxnSpPr>
          <p:spPr>
            <a:xfrm flipV="1">
              <a:off x="3821015" y="4570523"/>
              <a:ext cx="623580" cy="101818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451AFBC7-7AC4-ECA0-2AF2-E5F9B8AE017F}"/>
                </a:ext>
              </a:extLst>
            </p:cNvPr>
            <p:cNvCxnSpPr>
              <a:cxnSpLocks/>
              <a:stCxn id="36" idx="1"/>
              <a:endCxn id="10" idx="7"/>
            </p:cNvCxnSpPr>
            <p:nvPr/>
          </p:nvCxnSpPr>
          <p:spPr>
            <a:xfrm flipH="1">
              <a:off x="4528925" y="817807"/>
              <a:ext cx="1390612" cy="157378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01C2DD67-94EA-CF0B-E8C8-8CE605839F57}"/>
                </a:ext>
              </a:extLst>
            </p:cNvPr>
            <p:cNvCxnSpPr>
              <a:cxnSpLocks/>
              <a:stCxn id="36" idx="2"/>
              <a:endCxn id="54" idx="0"/>
            </p:cNvCxnSpPr>
            <p:nvPr/>
          </p:nvCxnSpPr>
          <p:spPr>
            <a:xfrm flipH="1">
              <a:off x="7543970" y="1233305"/>
              <a:ext cx="796262" cy="268713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5AFAEE14-22A3-B364-BD5A-FAAFFB4371CD}"/>
                </a:ext>
              </a:extLst>
            </p:cNvPr>
            <p:cNvGrpSpPr/>
            <p:nvPr/>
          </p:nvGrpSpPr>
          <p:grpSpPr>
            <a:xfrm>
              <a:off x="2354479" y="390292"/>
              <a:ext cx="4180231" cy="4180231"/>
              <a:chOff x="1930271" y="273182"/>
              <a:chExt cx="4180231" cy="4180231"/>
            </a:xfrm>
          </p:grpSpPr>
          <p:sp>
            <p:nvSpPr>
              <p:cNvPr id="10" name="円/楕円 9">
                <a:extLst>
                  <a:ext uri="{FF2B5EF4-FFF2-40B4-BE49-F238E27FC236}">
                    <a16:creationId xmlns:a16="http://schemas.microsoft.com/office/drawing/2014/main" id="{2C54090F-5BDF-8E1A-9525-728FC811FC67}"/>
                  </a:ext>
                </a:extLst>
              </p:cNvPr>
              <p:cNvSpPr/>
              <p:nvPr/>
            </p:nvSpPr>
            <p:spPr>
              <a:xfrm>
                <a:off x="3945487" y="2247163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6306C529-4AB1-A3A4-9578-23E6532D7165}"/>
                  </a:ext>
                </a:extLst>
              </p:cNvPr>
              <p:cNvSpPr txBox="1"/>
              <p:nvPr/>
            </p:nvSpPr>
            <p:spPr>
              <a:xfrm>
                <a:off x="3491129" y="2441089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日本</a:t>
                </a:r>
              </a:p>
            </p:txBody>
          </p:sp>
          <p:sp>
            <p:nvSpPr>
              <p:cNvPr id="56" name="円/楕円 55">
                <a:extLst>
                  <a:ext uri="{FF2B5EF4-FFF2-40B4-BE49-F238E27FC236}">
                    <a16:creationId xmlns:a16="http://schemas.microsoft.com/office/drawing/2014/main" id="{9CF91C15-1008-EE4A-1A57-2081DB87EBBF}"/>
                  </a:ext>
                </a:extLst>
              </p:cNvPr>
              <p:cNvSpPr/>
              <p:nvPr/>
            </p:nvSpPr>
            <p:spPr>
              <a:xfrm>
                <a:off x="1930271" y="273182"/>
                <a:ext cx="4180231" cy="418023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D1A10B28-3450-9483-7F89-685300AF3A07}"/>
                </a:ext>
              </a:extLst>
            </p:cNvPr>
            <p:cNvGrpSpPr/>
            <p:nvPr/>
          </p:nvGrpSpPr>
          <p:grpSpPr>
            <a:xfrm>
              <a:off x="5433827" y="1926096"/>
              <a:ext cx="4180231" cy="4180231"/>
              <a:chOff x="5450156" y="1722167"/>
              <a:chExt cx="4180231" cy="4180231"/>
            </a:xfrm>
          </p:grpSpPr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1C37FCF3-51F2-CB0F-D820-E7CB21A8EAD9}"/>
                  </a:ext>
                </a:extLst>
              </p:cNvPr>
              <p:cNvSpPr txBox="1"/>
              <p:nvPr/>
            </p:nvSpPr>
            <p:spPr>
              <a:xfrm>
                <a:off x="7012666" y="3887531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米国</a:t>
                </a:r>
              </a:p>
            </p:txBody>
          </p:sp>
          <p:sp>
            <p:nvSpPr>
              <p:cNvPr id="54" name="円/楕円 53">
                <a:extLst>
                  <a:ext uri="{FF2B5EF4-FFF2-40B4-BE49-F238E27FC236}">
                    <a16:creationId xmlns:a16="http://schemas.microsoft.com/office/drawing/2014/main" id="{EC3FF6CC-06A8-D43E-95AF-BD94DEB76569}"/>
                  </a:ext>
                </a:extLst>
              </p:cNvPr>
              <p:cNvSpPr/>
              <p:nvPr/>
            </p:nvSpPr>
            <p:spPr>
              <a:xfrm>
                <a:off x="7467024" y="3716507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9" name="円/楕円 68">
                <a:extLst>
                  <a:ext uri="{FF2B5EF4-FFF2-40B4-BE49-F238E27FC236}">
                    <a16:creationId xmlns:a16="http://schemas.microsoft.com/office/drawing/2014/main" id="{098F2BBD-4268-2151-1436-68F4912F76F0}"/>
                  </a:ext>
                </a:extLst>
              </p:cNvPr>
              <p:cNvSpPr/>
              <p:nvPr/>
            </p:nvSpPr>
            <p:spPr>
              <a:xfrm>
                <a:off x="5450156" y="1722167"/>
                <a:ext cx="4180231" cy="418023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5" name="グループ化 84">
              <a:extLst>
                <a:ext uri="{FF2B5EF4-FFF2-40B4-BE49-F238E27FC236}">
                  <a16:creationId xmlns:a16="http://schemas.microsoft.com/office/drawing/2014/main" id="{AA92FCEE-3E88-E65B-FFEB-F64CAC1511AA}"/>
                </a:ext>
              </a:extLst>
            </p:cNvPr>
            <p:cNvGrpSpPr/>
            <p:nvPr/>
          </p:nvGrpSpPr>
          <p:grpSpPr>
            <a:xfrm>
              <a:off x="6270771" y="1711020"/>
              <a:ext cx="1024577" cy="555608"/>
              <a:chOff x="6270771" y="1711020"/>
              <a:chExt cx="1024577" cy="555608"/>
            </a:xfrm>
          </p:grpSpPr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D192728-DE81-0704-0633-94CC9340E4C1}"/>
                  </a:ext>
                </a:extLst>
              </p:cNvPr>
              <p:cNvSpPr txBox="1"/>
              <p:nvPr/>
            </p:nvSpPr>
            <p:spPr>
              <a:xfrm>
                <a:off x="6270771" y="1711020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現状</a:t>
                </a:r>
              </a:p>
            </p:txBody>
          </p:sp>
          <p:sp>
            <p:nvSpPr>
              <p:cNvPr id="83" name="円/楕円 82">
                <a:extLst>
                  <a:ext uri="{FF2B5EF4-FFF2-40B4-BE49-F238E27FC236}">
                    <a16:creationId xmlns:a16="http://schemas.microsoft.com/office/drawing/2014/main" id="{E5931750-6C45-5E24-F2F5-628DB08F9727}"/>
                  </a:ext>
                </a:extLst>
              </p:cNvPr>
              <p:cNvSpPr/>
              <p:nvPr/>
            </p:nvSpPr>
            <p:spPr>
              <a:xfrm>
                <a:off x="6419541" y="2080078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D8E5F7C8-44BC-6DCA-C1C4-BEF58A338DDE}"/>
                </a:ext>
              </a:extLst>
            </p:cNvPr>
            <p:cNvSpPr txBox="1"/>
            <p:nvPr/>
          </p:nvSpPr>
          <p:spPr>
            <a:xfrm>
              <a:off x="5919537" y="402308"/>
              <a:ext cx="4841390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理想点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</a:t>
              </a:r>
              <a:r>
                <a:rPr kumimoji="1" lang="en-US" altLang="ja-JP" sz="24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ideal point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＝各国にとって最も望ましい結果</a:t>
              </a: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8FC79F9D-8DCF-5373-C297-B45DB8017F1A}"/>
                </a:ext>
              </a:extLst>
            </p:cNvPr>
            <p:cNvSpPr txBox="1"/>
            <p:nvPr/>
          </p:nvSpPr>
          <p:spPr>
            <a:xfrm>
              <a:off x="1107322" y="5588708"/>
              <a:ext cx="5427385" cy="830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無差別曲線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</a:t>
              </a:r>
              <a:r>
                <a:rPr kumimoji="1" lang="en-US" altLang="ja-JP" sz="24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indifference curve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＝各国にとっての受け入れ可能な範囲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697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D0E64CE-CDA6-3E7B-6763-43E891648623}"/>
              </a:ext>
            </a:extLst>
          </p:cNvPr>
          <p:cNvGrpSpPr/>
          <p:nvPr/>
        </p:nvGrpSpPr>
        <p:grpSpPr>
          <a:xfrm>
            <a:off x="766152" y="390292"/>
            <a:ext cx="9994775" cy="6304768"/>
            <a:chOff x="766152" y="390292"/>
            <a:chExt cx="9994775" cy="6304768"/>
          </a:xfrm>
        </p:grpSpPr>
        <p:sp>
          <p:nvSpPr>
            <p:cNvPr id="21" name="フリーフォーム 20">
              <a:extLst>
                <a:ext uri="{FF2B5EF4-FFF2-40B4-BE49-F238E27FC236}">
                  <a16:creationId xmlns:a16="http://schemas.microsoft.com/office/drawing/2014/main" id="{B1326135-3B09-5D0C-67BF-514AA535DBBF}"/>
                </a:ext>
              </a:extLst>
            </p:cNvPr>
            <p:cNvSpPr/>
            <p:nvPr/>
          </p:nvSpPr>
          <p:spPr>
            <a:xfrm>
              <a:off x="5430308" y="2201557"/>
              <a:ext cx="1100884" cy="2120735"/>
            </a:xfrm>
            <a:custGeom>
              <a:avLst/>
              <a:gdLst>
                <a:gd name="csX0" fmla="*/ 1078073 w 1100884"/>
                <a:gd name="csY0" fmla="*/ 0 h 2120735"/>
                <a:gd name="csX1" fmla="*/ 1090093 w 1100884"/>
                <a:gd name="csY1" fmla="*/ 78763 h 2120735"/>
                <a:gd name="csX2" fmla="*/ 1100884 w 1100884"/>
                <a:gd name="csY2" fmla="*/ 292465 h 2120735"/>
                <a:gd name="csX3" fmla="*/ 179372 w 1100884"/>
                <a:gd name="csY3" fmla="*/ 2025622 h 2120735"/>
                <a:gd name="csX4" fmla="*/ 22812 w 1100884"/>
                <a:gd name="csY4" fmla="*/ 2120735 h 2120735"/>
                <a:gd name="csX5" fmla="*/ 10791 w 1100884"/>
                <a:gd name="csY5" fmla="*/ 2041971 h 2120735"/>
                <a:gd name="csX6" fmla="*/ 0 w 1100884"/>
                <a:gd name="csY6" fmla="*/ 1828269 h 2120735"/>
                <a:gd name="csX7" fmla="*/ 921513 w 1100884"/>
                <a:gd name="csY7" fmla="*/ 95112 h 2120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00884" h="2120735">
                  <a:moveTo>
                    <a:pt x="1078073" y="0"/>
                  </a:moveTo>
                  <a:lnTo>
                    <a:pt x="1090093" y="78763"/>
                  </a:lnTo>
                  <a:cubicBezTo>
                    <a:pt x="1097229" y="149027"/>
                    <a:pt x="1100884" y="220319"/>
                    <a:pt x="1100884" y="292465"/>
                  </a:cubicBezTo>
                  <a:cubicBezTo>
                    <a:pt x="1100884" y="1013927"/>
                    <a:pt x="735346" y="1650013"/>
                    <a:pt x="179372" y="2025622"/>
                  </a:cubicBezTo>
                  <a:lnTo>
                    <a:pt x="22812" y="2120735"/>
                  </a:lnTo>
                  <a:lnTo>
                    <a:pt x="10791" y="2041971"/>
                  </a:lnTo>
                  <a:cubicBezTo>
                    <a:pt x="3656" y="1971708"/>
                    <a:pt x="0" y="1900415"/>
                    <a:pt x="0" y="1828269"/>
                  </a:cubicBezTo>
                  <a:cubicBezTo>
                    <a:pt x="0" y="1106807"/>
                    <a:pt x="365538" y="470721"/>
                    <a:pt x="921513" y="95112"/>
                  </a:cubicBezTo>
                  <a:close/>
                </a:path>
              </a:pathLst>
            </a:custGeom>
            <a:solidFill>
              <a:srgbClr val="FF0000">
                <a:alpha val="45999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F053167C-2D65-C1F4-DD2E-918546E80D30}"/>
                </a:ext>
              </a:extLst>
            </p:cNvPr>
            <p:cNvCxnSpPr>
              <a:cxnSpLocks/>
            </p:cNvCxnSpPr>
            <p:nvPr/>
          </p:nvCxnSpPr>
          <p:spPr>
            <a:xfrm>
              <a:off x="1320150" y="6216979"/>
              <a:ext cx="94407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9AF80579-EA06-BAF8-035A-8E5FF46B63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0150" y="390293"/>
              <a:ext cx="0" cy="58266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27D69AB-99C6-76D3-4974-4D040D287331}"/>
                </a:ext>
              </a:extLst>
            </p:cNvPr>
            <p:cNvSpPr txBox="1"/>
            <p:nvPr/>
          </p:nvSpPr>
          <p:spPr>
            <a:xfrm>
              <a:off x="9248061" y="6233395"/>
              <a:ext cx="1512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車関税率</a:t>
              </a: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95FC9B2C-353A-C779-21AD-CC70229FCFF3}"/>
                </a:ext>
              </a:extLst>
            </p:cNvPr>
            <p:cNvSpPr txBox="1"/>
            <p:nvPr/>
          </p:nvSpPr>
          <p:spPr>
            <a:xfrm>
              <a:off x="766152" y="390292"/>
              <a:ext cx="553998" cy="132343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肉関税率</a:t>
              </a:r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9BCA4DC2-E16D-3947-E359-71719137B8DF}"/>
                </a:ext>
              </a:extLst>
            </p:cNvPr>
            <p:cNvSpPr/>
            <p:nvPr/>
          </p:nvSpPr>
          <p:spPr>
            <a:xfrm>
              <a:off x="4369695" y="2364273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0535611D-3D6A-35D7-617C-4EBCBE257007}"/>
                </a:ext>
              </a:extLst>
            </p:cNvPr>
            <p:cNvSpPr txBox="1"/>
            <p:nvPr/>
          </p:nvSpPr>
          <p:spPr>
            <a:xfrm>
              <a:off x="3915337" y="2558199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日本</a:t>
              </a:r>
            </a:p>
          </p:txBody>
        </p:sp>
        <p:sp>
          <p:nvSpPr>
            <p:cNvPr id="17" name="円/楕円 16">
              <a:extLst>
                <a:ext uri="{FF2B5EF4-FFF2-40B4-BE49-F238E27FC236}">
                  <a16:creationId xmlns:a16="http://schemas.microsoft.com/office/drawing/2014/main" id="{BB147123-0E8F-2C10-0C77-34492678BE04}"/>
                </a:ext>
              </a:extLst>
            </p:cNvPr>
            <p:cNvSpPr/>
            <p:nvPr/>
          </p:nvSpPr>
          <p:spPr>
            <a:xfrm>
              <a:off x="2354479" y="390292"/>
              <a:ext cx="4180231" cy="4180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CEB6F196-94AD-3346-91C5-54606213F811}"/>
                </a:ext>
              </a:extLst>
            </p:cNvPr>
            <p:cNvSpPr txBox="1"/>
            <p:nvPr/>
          </p:nvSpPr>
          <p:spPr>
            <a:xfrm>
              <a:off x="6996337" y="4091460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米国</a:t>
              </a:r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1BAB4AA8-156E-4D83-DA59-4C6F2A7F254C}"/>
                </a:ext>
              </a:extLst>
            </p:cNvPr>
            <p:cNvSpPr/>
            <p:nvPr/>
          </p:nvSpPr>
          <p:spPr>
            <a:xfrm>
              <a:off x="7450695" y="3920436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A283B04F-6648-3F29-F787-5058E4E59D24}"/>
                </a:ext>
              </a:extLst>
            </p:cNvPr>
            <p:cNvSpPr/>
            <p:nvPr/>
          </p:nvSpPr>
          <p:spPr>
            <a:xfrm>
              <a:off x="5433827" y="1926096"/>
              <a:ext cx="4180231" cy="4180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C6FE73ED-90C9-E426-45AA-C15FF1B35F81}"/>
                </a:ext>
              </a:extLst>
            </p:cNvPr>
            <p:cNvGrpSpPr/>
            <p:nvPr/>
          </p:nvGrpSpPr>
          <p:grpSpPr>
            <a:xfrm>
              <a:off x="6270771" y="1711020"/>
              <a:ext cx="1024577" cy="555608"/>
              <a:chOff x="6270771" y="1711020"/>
              <a:chExt cx="1024577" cy="555608"/>
            </a:xfrm>
          </p:grpSpPr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9B0B7F9D-1073-76F1-CFB2-9AB6ED7296ED}"/>
                  </a:ext>
                </a:extLst>
              </p:cNvPr>
              <p:cNvSpPr txBox="1"/>
              <p:nvPr/>
            </p:nvSpPr>
            <p:spPr>
              <a:xfrm>
                <a:off x="6270771" y="1711020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現状</a:t>
                </a:r>
              </a:p>
            </p:txBody>
          </p:sp>
          <p:sp>
            <p:nvSpPr>
              <p:cNvPr id="11" name="円/楕円 10">
                <a:extLst>
                  <a:ext uri="{FF2B5EF4-FFF2-40B4-BE49-F238E27FC236}">
                    <a16:creationId xmlns:a16="http://schemas.microsoft.com/office/drawing/2014/main" id="{192FAEB4-7B5F-9F13-4D7D-3C0C5612F497}"/>
                  </a:ext>
                </a:extLst>
              </p:cNvPr>
              <p:cNvSpPr/>
              <p:nvPr/>
            </p:nvSpPr>
            <p:spPr>
              <a:xfrm>
                <a:off x="6419541" y="2080078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D6819D70-EBE4-EC0B-D5B4-24573AAB134C}"/>
                </a:ext>
              </a:extLst>
            </p:cNvPr>
            <p:cNvCxnSpPr>
              <a:cxnSpLocks/>
              <a:stCxn id="23" idx="0"/>
              <a:endCxn id="14" idx="2"/>
            </p:cNvCxnSpPr>
            <p:nvPr/>
          </p:nvCxnSpPr>
          <p:spPr>
            <a:xfrm flipV="1">
              <a:off x="4033842" y="4016212"/>
              <a:ext cx="1399985" cy="72812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41CE7F9A-23B9-95EB-A64E-46AEAEE2F35F}"/>
                </a:ext>
              </a:extLst>
            </p:cNvPr>
            <p:cNvSpPr txBox="1"/>
            <p:nvPr/>
          </p:nvSpPr>
          <p:spPr>
            <a:xfrm>
              <a:off x="1320149" y="4744336"/>
              <a:ext cx="5427385" cy="15696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勝利集合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</a:t>
              </a:r>
              <a:r>
                <a:rPr kumimoji="1" lang="en-US" altLang="ja-JP" sz="2400" dirty="0" err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winset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＝両者が合意できる範囲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現状よりも望ましい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広さが合意のしやすさを表す</a:t>
              </a:r>
              <a:endParaRPr kumimoji="1" lang="ja-JP" altLang="en-US" sz="24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7997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8C50C00B-D171-09FE-6CA8-E94F2CB13D43}"/>
              </a:ext>
            </a:extLst>
          </p:cNvPr>
          <p:cNvGrpSpPr/>
          <p:nvPr/>
        </p:nvGrpSpPr>
        <p:grpSpPr>
          <a:xfrm>
            <a:off x="766152" y="390292"/>
            <a:ext cx="9994775" cy="6304768"/>
            <a:chOff x="766152" y="390292"/>
            <a:chExt cx="9994775" cy="6304768"/>
          </a:xfrm>
        </p:grpSpPr>
        <p:sp>
          <p:nvSpPr>
            <p:cNvPr id="52" name="フリーフォーム 51">
              <a:extLst>
                <a:ext uri="{FF2B5EF4-FFF2-40B4-BE49-F238E27FC236}">
                  <a16:creationId xmlns:a16="http://schemas.microsoft.com/office/drawing/2014/main" id="{B84C41E5-FE30-59A8-EB75-54D7B6459018}"/>
                </a:ext>
              </a:extLst>
            </p:cNvPr>
            <p:cNvSpPr/>
            <p:nvPr/>
          </p:nvSpPr>
          <p:spPr>
            <a:xfrm>
              <a:off x="4665375" y="1532167"/>
              <a:ext cx="1859303" cy="2975393"/>
            </a:xfrm>
            <a:custGeom>
              <a:avLst/>
              <a:gdLst>
                <a:gd name="csX0" fmla="*/ 1827440 w 1859303"/>
                <a:gd name="csY0" fmla="*/ 1298000 h 2975393"/>
                <a:gd name="csX1" fmla="*/ 1819666 w 1859303"/>
                <a:gd name="csY1" fmla="*/ 1346839 h 2975393"/>
                <a:gd name="csX2" fmla="*/ 935553 w 1859303"/>
                <a:gd name="csY2" fmla="*/ 2684332 h 2975393"/>
                <a:gd name="csX3" fmla="*/ 778993 w 1859303"/>
                <a:gd name="csY3" fmla="*/ 2779445 h 2975393"/>
                <a:gd name="csX4" fmla="*/ 776932 w 1859303"/>
                <a:gd name="csY4" fmla="*/ 2765944 h 2975393"/>
                <a:gd name="csX5" fmla="*/ 842194 w 1859303"/>
                <a:gd name="csY5" fmla="*/ 2730240 h 2975393"/>
                <a:gd name="csX6" fmla="*/ 1796685 w 1859303"/>
                <a:gd name="csY6" fmla="*/ 1446018 h 2975393"/>
                <a:gd name="csX7" fmla="*/ 1834091 w 1859303"/>
                <a:gd name="csY7" fmla="*/ 1256216 h 2975393"/>
                <a:gd name="csX8" fmla="*/ 1831097 w 1859303"/>
                <a:gd name="csY8" fmla="*/ 1280400 h 2975393"/>
                <a:gd name="csX9" fmla="*/ 1827440 w 1859303"/>
                <a:gd name="csY9" fmla="*/ 1298000 h 2975393"/>
                <a:gd name="csX10" fmla="*/ 1844827 w 1859303"/>
                <a:gd name="csY10" fmla="*/ 1169487 h 2975393"/>
                <a:gd name="csX11" fmla="*/ 1840272 w 1859303"/>
                <a:gd name="csY11" fmla="*/ 1217379 h 2975393"/>
                <a:gd name="csX12" fmla="*/ 1834091 w 1859303"/>
                <a:gd name="csY12" fmla="*/ 1256216 h 2975393"/>
                <a:gd name="csX13" fmla="*/ 1635975 w 1859303"/>
                <a:gd name="csY13" fmla="*/ 0 h 2975393"/>
                <a:gd name="csX14" fmla="*/ 1695052 w 1859303"/>
                <a:gd name="csY14" fmla="*/ 122635 h 2975393"/>
                <a:gd name="csX15" fmla="*/ 1859303 w 1859303"/>
                <a:gd name="csY15" fmla="*/ 936202 h 2975393"/>
                <a:gd name="csX16" fmla="*/ 1852158 w 1859303"/>
                <a:gd name="csY16" fmla="*/ 1110274 h 2975393"/>
                <a:gd name="csX17" fmla="*/ 1844827 w 1859303"/>
                <a:gd name="csY17" fmla="*/ 1169487 h 2975393"/>
                <a:gd name="csX18" fmla="*/ 1852824 w 1859303"/>
                <a:gd name="csY18" fmla="*/ 1085406 h 2975393"/>
                <a:gd name="csX19" fmla="*/ 1857065 w 1859303"/>
                <a:gd name="csY19" fmla="*/ 951175 h 2975393"/>
                <a:gd name="csX20" fmla="*/ 1846274 w 1859303"/>
                <a:gd name="csY20" fmla="*/ 737473 h 2975393"/>
                <a:gd name="csX21" fmla="*/ 1834254 w 1859303"/>
                <a:gd name="csY21" fmla="*/ 658710 h 2975393"/>
                <a:gd name="csX22" fmla="*/ 1677694 w 1859303"/>
                <a:gd name="csY22" fmla="*/ 753822 h 2975393"/>
                <a:gd name="csX23" fmla="*/ 756181 w 1859303"/>
                <a:gd name="csY23" fmla="*/ 2486979 h 2975393"/>
                <a:gd name="csX24" fmla="*/ 766972 w 1859303"/>
                <a:gd name="csY24" fmla="*/ 2700681 h 2975393"/>
                <a:gd name="csX25" fmla="*/ 776932 w 1859303"/>
                <a:gd name="csY25" fmla="*/ 2765944 h 2975393"/>
                <a:gd name="csX26" fmla="*/ 698105 w 1859303"/>
                <a:gd name="csY26" fmla="*/ 2809069 h 2975393"/>
                <a:gd name="csX27" fmla="*/ 390724 w 1859303"/>
                <a:gd name="csY27" fmla="*/ 2932351 h 2975393"/>
                <a:gd name="csX28" fmla="*/ 223328 w 1859303"/>
                <a:gd name="csY28" fmla="*/ 2975393 h 2975393"/>
                <a:gd name="csX29" fmla="*/ 164252 w 1859303"/>
                <a:gd name="csY29" fmla="*/ 2852758 h 2975393"/>
                <a:gd name="csX30" fmla="*/ 0 w 1859303"/>
                <a:gd name="csY30" fmla="*/ 2039190 h 2975393"/>
                <a:gd name="csX31" fmla="*/ 1468580 w 1859303"/>
                <a:gd name="csY31" fmla="*/ 43042 h 2975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1859303" h="2975393">
                  <a:moveTo>
                    <a:pt x="1827440" y="1298000"/>
                  </a:moveTo>
                  <a:lnTo>
                    <a:pt x="1819666" y="1346839"/>
                  </a:lnTo>
                  <a:cubicBezTo>
                    <a:pt x="1713293" y="1902012"/>
                    <a:pt x="1387282" y="2379150"/>
                    <a:pt x="935553" y="2684332"/>
                  </a:cubicBezTo>
                  <a:lnTo>
                    <a:pt x="778993" y="2779445"/>
                  </a:lnTo>
                  <a:lnTo>
                    <a:pt x="776932" y="2765944"/>
                  </a:lnTo>
                  <a:lnTo>
                    <a:pt x="842194" y="2730240"/>
                  </a:lnTo>
                  <a:cubicBezTo>
                    <a:pt x="1310880" y="2449317"/>
                    <a:pt x="1660350" y="1989936"/>
                    <a:pt x="1796685" y="1446018"/>
                  </a:cubicBezTo>
                  <a:close/>
                  <a:moveTo>
                    <a:pt x="1834091" y="1256216"/>
                  </a:moveTo>
                  <a:lnTo>
                    <a:pt x="1831097" y="1280400"/>
                  </a:lnTo>
                  <a:lnTo>
                    <a:pt x="1827440" y="1298000"/>
                  </a:lnTo>
                  <a:close/>
                  <a:moveTo>
                    <a:pt x="1844827" y="1169487"/>
                  </a:moveTo>
                  <a:lnTo>
                    <a:pt x="1840272" y="1217379"/>
                  </a:lnTo>
                  <a:lnTo>
                    <a:pt x="1834091" y="1256216"/>
                  </a:lnTo>
                  <a:close/>
                  <a:moveTo>
                    <a:pt x="1635975" y="0"/>
                  </a:moveTo>
                  <a:lnTo>
                    <a:pt x="1695052" y="122635"/>
                  </a:lnTo>
                  <a:cubicBezTo>
                    <a:pt x="1800817" y="372693"/>
                    <a:pt x="1859303" y="647617"/>
                    <a:pt x="1859303" y="936202"/>
                  </a:cubicBezTo>
                  <a:cubicBezTo>
                    <a:pt x="1859303" y="994821"/>
                    <a:pt x="1856890" y="1052876"/>
                    <a:pt x="1852158" y="1110274"/>
                  </a:cubicBezTo>
                  <a:lnTo>
                    <a:pt x="1844827" y="1169487"/>
                  </a:lnTo>
                  <a:lnTo>
                    <a:pt x="1852824" y="1085406"/>
                  </a:lnTo>
                  <a:cubicBezTo>
                    <a:pt x="1855637" y="1041024"/>
                    <a:pt x="1857065" y="996266"/>
                    <a:pt x="1857065" y="951175"/>
                  </a:cubicBezTo>
                  <a:cubicBezTo>
                    <a:pt x="1857065" y="879029"/>
                    <a:pt x="1853410" y="807737"/>
                    <a:pt x="1846274" y="737473"/>
                  </a:cubicBezTo>
                  <a:lnTo>
                    <a:pt x="1834254" y="658710"/>
                  </a:lnTo>
                  <a:lnTo>
                    <a:pt x="1677694" y="753822"/>
                  </a:lnTo>
                  <a:cubicBezTo>
                    <a:pt x="1121719" y="1129431"/>
                    <a:pt x="756181" y="1765517"/>
                    <a:pt x="756181" y="2486979"/>
                  </a:cubicBezTo>
                  <a:cubicBezTo>
                    <a:pt x="756181" y="2559125"/>
                    <a:pt x="759837" y="2630418"/>
                    <a:pt x="766972" y="2700681"/>
                  </a:cubicBezTo>
                  <a:lnTo>
                    <a:pt x="776932" y="2765944"/>
                  </a:lnTo>
                  <a:lnTo>
                    <a:pt x="698105" y="2809069"/>
                  </a:lnTo>
                  <a:cubicBezTo>
                    <a:pt x="599787" y="2857928"/>
                    <a:pt x="497077" y="2899272"/>
                    <a:pt x="390724" y="2932351"/>
                  </a:cubicBezTo>
                  <a:lnTo>
                    <a:pt x="223328" y="2975393"/>
                  </a:lnTo>
                  <a:lnTo>
                    <a:pt x="164252" y="2852758"/>
                  </a:lnTo>
                  <a:cubicBezTo>
                    <a:pt x="58486" y="2602700"/>
                    <a:pt x="0" y="2327775"/>
                    <a:pt x="0" y="2039190"/>
                  </a:cubicBezTo>
                  <a:cubicBezTo>
                    <a:pt x="0" y="1101290"/>
                    <a:pt x="617759" y="307674"/>
                    <a:pt x="1468580" y="43042"/>
                  </a:cubicBezTo>
                  <a:close/>
                </a:path>
              </a:pathLst>
            </a:custGeom>
            <a:solidFill>
              <a:srgbClr val="FFC000">
                <a:alpha val="71084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8E50B84C-C853-4812-86F4-BEE7A900DD84}"/>
                </a:ext>
              </a:extLst>
            </p:cNvPr>
            <p:cNvCxnSpPr>
              <a:cxnSpLocks/>
            </p:cNvCxnSpPr>
            <p:nvPr/>
          </p:nvCxnSpPr>
          <p:spPr>
            <a:xfrm>
              <a:off x="1320150" y="6216979"/>
              <a:ext cx="94407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628093D9-278A-1AAB-3DA9-73F8C9665E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0150" y="390293"/>
              <a:ext cx="0" cy="58266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D1F0698F-591E-EF5D-E8ED-9BE194B5801E}"/>
                </a:ext>
              </a:extLst>
            </p:cNvPr>
            <p:cNvSpPr txBox="1"/>
            <p:nvPr/>
          </p:nvSpPr>
          <p:spPr>
            <a:xfrm>
              <a:off x="9248061" y="6233395"/>
              <a:ext cx="1512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車関税率</a:t>
              </a: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B4F823E-E516-E0B2-DE67-0126D2C4481D}"/>
                </a:ext>
              </a:extLst>
            </p:cNvPr>
            <p:cNvSpPr txBox="1"/>
            <p:nvPr/>
          </p:nvSpPr>
          <p:spPr>
            <a:xfrm>
              <a:off x="766152" y="390292"/>
              <a:ext cx="553998" cy="132343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肉関税率</a:t>
              </a:r>
            </a:p>
          </p:txBody>
        </p:sp>
        <p:sp>
          <p:nvSpPr>
            <p:cNvPr id="15" name="円/楕円 14">
              <a:extLst>
                <a:ext uri="{FF2B5EF4-FFF2-40B4-BE49-F238E27FC236}">
                  <a16:creationId xmlns:a16="http://schemas.microsoft.com/office/drawing/2014/main" id="{D20B4CFD-2820-11E1-B86C-3652D7098355}"/>
                </a:ext>
              </a:extLst>
            </p:cNvPr>
            <p:cNvSpPr/>
            <p:nvPr/>
          </p:nvSpPr>
          <p:spPr>
            <a:xfrm>
              <a:off x="4369695" y="2364273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5B91290B-4C95-58E8-2E33-83272CC00089}"/>
                </a:ext>
              </a:extLst>
            </p:cNvPr>
            <p:cNvSpPr txBox="1"/>
            <p:nvPr/>
          </p:nvSpPr>
          <p:spPr>
            <a:xfrm>
              <a:off x="3915337" y="2558199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日本</a:t>
              </a:r>
            </a:p>
          </p:txBody>
        </p:sp>
        <p:sp>
          <p:nvSpPr>
            <p:cNvPr id="17" name="円/楕円 16">
              <a:extLst>
                <a:ext uri="{FF2B5EF4-FFF2-40B4-BE49-F238E27FC236}">
                  <a16:creationId xmlns:a16="http://schemas.microsoft.com/office/drawing/2014/main" id="{91219053-A682-2395-1220-FAF897F6001D}"/>
                </a:ext>
              </a:extLst>
            </p:cNvPr>
            <p:cNvSpPr/>
            <p:nvPr/>
          </p:nvSpPr>
          <p:spPr>
            <a:xfrm>
              <a:off x="2354479" y="390292"/>
              <a:ext cx="4180231" cy="4180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EE82621-0CE9-0A3A-8CD5-0EDA64DFA946}"/>
                </a:ext>
              </a:extLst>
            </p:cNvPr>
            <p:cNvSpPr txBox="1"/>
            <p:nvPr/>
          </p:nvSpPr>
          <p:spPr>
            <a:xfrm>
              <a:off x="6996337" y="4091460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>
                  <a:solidFill>
                    <a:schemeClr val="tx1">
                      <a:alpha val="25000"/>
                    </a:schemeClr>
                  </a:solidFill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米国</a:t>
              </a:r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98647350-4841-B76C-2D7F-F6C73FF326BA}"/>
                </a:ext>
              </a:extLst>
            </p:cNvPr>
            <p:cNvSpPr/>
            <p:nvPr/>
          </p:nvSpPr>
          <p:spPr>
            <a:xfrm>
              <a:off x="7450695" y="3920436"/>
              <a:ext cx="186550" cy="186550"/>
            </a:xfrm>
            <a:prstGeom prst="ellipse">
              <a:avLst/>
            </a:prstGeom>
            <a:solidFill>
              <a:schemeClr val="tx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lt1">
                    <a:alpha val="25000"/>
                  </a:schemeClr>
                </a:solidFill>
              </a:endParaRPr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82E29A12-C297-75F9-A376-5AD6BAF0347D}"/>
                </a:ext>
              </a:extLst>
            </p:cNvPr>
            <p:cNvSpPr/>
            <p:nvPr/>
          </p:nvSpPr>
          <p:spPr>
            <a:xfrm>
              <a:off x="5433827" y="1926096"/>
              <a:ext cx="4180231" cy="4180231"/>
            </a:xfrm>
            <a:prstGeom prst="ellipse">
              <a:avLst/>
            </a:prstGeom>
            <a:noFill/>
            <a:ln w="19050">
              <a:solidFill>
                <a:schemeClr val="tx1">
                  <a:alpha val="29949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lt1">
                    <a:alpha val="25000"/>
                  </a:schemeClr>
                </a:solidFill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28E46E79-332D-2817-9451-247EB1EFAD89}"/>
                </a:ext>
              </a:extLst>
            </p:cNvPr>
            <p:cNvSpPr txBox="1"/>
            <p:nvPr/>
          </p:nvSpPr>
          <p:spPr>
            <a:xfrm>
              <a:off x="6270771" y="1711020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現状</a:t>
              </a:r>
            </a:p>
          </p:txBody>
        </p:sp>
        <p:sp>
          <p:nvSpPr>
            <p:cNvPr id="11" name="円/楕円 10">
              <a:extLst>
                <a:ext uri="{FF2B5EF4-FFF2-40B4-BE49-F238E27FC236}">
                  <a16:creationId xmlns:a16="http://schemas.microsoft.com/office/drawing/2014/main" id="{7D5E2134-9CD2-F121-E2B2-91CCE81015E3}"/>
                </a:ext>
              </a:extLst>
            </p:cNvPr>
            <p:cNvSpPr/>
            <p:nvPr/>
          </p:nvSpPr>
          <p:spPr>
            <a:xfrm>
              <a:off x="6419541" y="2080078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897DCD65-BD94-6D54-72A4-D4EF2EA5BC28}"/>
                </a:ext>
              </a:extLst>
            </p:cNvPr>
            <p:cNvSpPr txBox="1"/>
            <p:nvPr/>
          </p:nvSpPr>
          <p:spPr>
            <a:xfrm>
              <a:off x="6237918" y="3658644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米国</a:t>
              </a:r>
              <a:r>
                <a:rPr kumimoji="1" lang="en-US" altLang="ja-JP" sz="24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’</a:t>
              </a:r>
              <a:endParaRPr kumimoji="1" lang="ja-JP" altLang="en-US" sz="2400"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sp>
          <p:nvSpPr>
            <p:cNvPr id="20" name="円/楕円 19">
              <a:extLst>
                <a:ext uri="{FF2B5EF4-FFF2-40B4-BE49-F238E27FC236}">
                  <a16:creationId xmlns:a16="http://schemas.microsoft.com/office/drawing/2014/main" id="{9833CFBC-6BBE-A6C0-25C8-C39967373FE3}"/>
                </a:ext>
              </a:extLst>
            </p:cNvPr>
            <p:cNvSpPr/>
            <p:nvPr/>
          </p:nvSpPr>
          <p:spPr>
            <a:xfrm>
              <a:off x="6692276" y="3487620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DFA29273-0D89-A1FD-A0FF-FD85E7D81973}"/>
                </a:ext>
              </a:extLst>
            </p:cNvPr>
            <p:cNvSpPr/>
            <p:nvPr/>
          </p:nvSpPr>
          <p:spPr>
            <a:xfrm>
              <a:off x="4675408" y="1493280"/>
              <a:ext cx="4180231" cy="4180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フリーフォーム 31">
              <a:extLst>
                <a:ext uri="{FF2B5EF4-FFF2-40B4-BE49-F238E27FC236}">
                  <a16:creationId xmlns:a16="http://schemas.microsoft.com/office/drawing/2014/main" id="{1EBBB627-C008-55C2-171F-20C48D9D8D3C}"/>
                </a:ext>
              </a:extLst>
            </p:cNvPr>
            <p:cNvSpPr/>
            <p:nvPr/>
          </p:nvSpPr>
          <p:spPr>
            <a:xfrm>
              <a:off x="5440520" y="2209997"/>
              <a:ext cx="1100884" cy="2120735"/>
            </a:xfrm>
            <a:custGeom>
              <a:avLst/>
              <a:gdLst>
                <a:gd name="csX0" fmla="*/ 1078073 w 1100884"/>
                <a:gd name="csY0" fmla="*/ 0 h 2120735"/>
                <a:gd name="csX1" fmla="*/ 1090093 w 1100884"/>
                <a:gd name="csY1" fmla="*/ 78763 h 2120735"/>
                <a:gd name="csX2" fmla="*/ 1100884 w 1100884"/>
                <a:gd name="csY2" fmla="*/ 292465 h 2120735"/>
                <a:gd name="csX3" fmla="*/ 179372 w 1100884"/>
                <a:gd name="csY3" fmla="*/ 2025622 h 2120735"/>
                <a:gd name="csX4" fmla="*/ 22812 w 1100884"/>
                <a:gd name="csY4" fmla="*/ 2120735 h 2120735"/>
                <a:gd name="csX5" fmla="*/ 10791 w 1100884"/>
                <a:gd name="csY5" fmla="*/ 2041971 h 2120735"/>
                <a:gd name="csX6" fmla="*/ 0 w 1100884"/>
                <a:gd name="csY6" fmla="*/ 1828269 h 2120735"/>
                <a:gd name="csX7" fmla="*/ 921513 w 1100884"/>
                <a:gd name="csY7" fmla="*/ 95112 h 2120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00884" h="2120735">
                  <a:moveTo>
                    <a:pt x="1078073" y="0"/>
                  </a:moveTo>
                  <a:lnTo>
                    <a:pt x="1090093" y="78763"/>
                  </a:lnTo>
                  <a:cubicBezTo>
                    <a:pt x="1097229" y="149027"/>
                    <a:pt x="1100884" y="220319"/>
                    <a:pt x="1100884" y="292465"/>
                  </a:cubicBezTo>
                  <a:cubicBezTo>
                    <a:pt x="1100884" y="1013927"/>
                    <a:pt x="735346" y="1650013"/>
                    <a:pt x="179372" y="2025622"/>
                  </a:cubicBezTo>
                  <a:lnTo>
                    <a:pt x="22812" y="2120735"/>
                  </a:lnTo>
                  <a:lnTo>
                    <a:pt x="10791" y="2041971"/>
                  </a:lnTo>
                  <a:cubicBezTo>
                    <a:pt x="3656" y="1971708"/>
                    <a:pt x="0" y="1900415"/>
                    <a:pt x="0" y="1828269"/>
                  </a:cubicBezTo>
                  <a:cubicBezTo>
                    <a:pt x="0" y="1106807"/>
                    <a:pt x="365538" y="470721"/>
                    <a:pt x="921513" y="95112"/>
                  </a:cubicBezTo>
                  <a:close/>
                </a:path>
              </a:pathLst>
            </a:custGeom>
            <a:solidFill>
              <a:srgbClr val="FF0000">
                <a:alpha val="30000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フリーフォーム 44">
              <a:extLst>
                <a:ext uri="{FF2B5EF4-FFF2-40B4-BE49-F238E27FC236}">
                  <a16:creationId xmlns:a16="http://schemas.microsoft.com/office/drawing/2014/main" id="{47FF85BA-74E9-0166-697C-EBA1B6F213E8}"/>
                </a:ext>
              </a:extLst>
            </p:cNvPr>
            <p:cNvSpPr/>
            <p:nvPr/>
          </p:nvSpPr>
          <p:spPr>
            <a:xfrm>
              <a:off x="4675408" y="1544206"/>
              <a:ext cx="1859303" cy="2975393"/>
            </a:xfrm>
            <a:custGeom>
              <a:avLst/>
              <a:gdLst>
                <a:gd name="csX0" fmla="*/ 1635975 w 1859303"/>
                <a:gd name="csY0" fmla="*/ 0 h 2975393"/>
                <a:gd name="csX1" fmla="*/ 1695052 w 1859303"/>
                <a:gd name="csY1" fmla="*/ 122635 h 2975393"/>
                <a:gd name="csX2" fmla="*/ 1859303 w 1859303"/>
                <a:gd name="csY2" fmla="*/ 936202 h 2975393"/>
                <a:gd name="csX3" fmla="*/ 390724 w 1859303"/>
                <a:gd name="csY3" fmla="*/ 2932351 h 2975393"/>
                <a:gd name="csX4" fmla="*/ 223328 w 1859303"/>
                <a:gd name="csY4" fmla="*/ 2975393 h 2975393"/>
                <a:gd name="csX5" fmla="*/ 164252 w 1859303"/>
                <a:gd name="csY5" fmla="*/ 2852758 h 2975393"/>
                <a:gd name="csX6" fmla="*/ 0 w 1859303"/>
                <a:gd name="csY6" fmla="*/ 2039190 h 2975393"/>
                <a:gd name="csX7" fmla="*/ 1468580 w 1859303"/>
                <a:gd name="csY7" fmla="*/ 43042 h 2975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59303" h="2975393">
                  <a:moveTo>
                    <a:pt x="1635975" y="0"/>
                  </a:moveTo>
                  <a:lnTo>
                    <a:pt x="1695052" y="122635"/>
                  </a:lnTo>
                  <a:cubicBezTo>
                    <a:pt x="1800817" y="372693"/>
                    <a:pt x="1859303" y="647617"/>
                    <a:pt x="1859303" y="936202"/>
                  </a:cubicBezTo>
                  <a:cubicBezTo>
                    <a:pt x="1859303" y="1874103"/>
                    <a:pt x="1241544" y="2667718"/>
                    <a:pt x="390724" y="2932351"/>
                  </a:cubicBezTo>
                  <a:lnTo>
                    <a:pt x="223328" y="2975393"/>
                  </a:lnTo>
                  <a:lnTo>
                    <a:pt x="164252" y="2852758"/>
                  </a:lnTo>
                  <a:cubicBezTo>
                    <a:pt x="58486" y="2602700"/>
                    <a:pt x="0" y="2327775"/>
                    <a:pt x="0" y="2039190"/>
                  </a:cubicBezTo>
                  <a:cubicBezTo>
                    <a:pt x="0" y="1101290"/>
                    <a:pt x="617759" y="307674"/>
                    <a:pt x="1468580" y="43042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3398C511-889B-B909-07E1-A24AA66861FE}"/>
                </a:ext>
              </a:extLst>
            </p:cNvPr>
            <p:cNvCxnSpPr>
              <a:cxnSpLocks/>
              <a:stCxn id="13" idx="1"/>
              <a:endCxn id="20" idx="6"/>
            </p:cNvCxnSpPr>
            <p:nvPr/>
          </p:nvCxnSpPr>
          <p:spPr>
            <a:xfrm flipH="1" flipV="1">
              <a:off x="6878826" y="3580895"/>
              <a:ext cx="599189" cy="36686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3770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FBD109EC-1AC4-B66A-0929-02A6FB53AFD1}"/>
              </a:ext>
            </a:extLst>
          </p:cNvPr>
          <p:cNvGrpSpPr/>
          <p:nvPr/>
        </p:nvGrpSpPr>
        <p:grpSpPr>
          <a:xfrm>
            <a:off x="766152" y="390292"/>
            <a:ext cx="9994775" cy="6304768"/>
            <a:chOff x="766152" y="390292"/>
            <a:chExt cx="9994775" cy="6304768"/>
          </a:xfrm>
        </p:grpSpPr>
        <p:sp>
          <p:nvSpPr>
            <p:cNvPr id="69" name="フリーフォーム 68">
              <a:extLst>
                <a:ext uri="{FF2B5EF4-FFF2-40B4-BE49-F238E27FC236}">
                  <a16:creationId xmlns:a16="http://schemas.microsoft.com/office/drawing/2014/main" id="{210CC617-8154-331D-EC16-BAE6A064A01D}"/>
                </a:ext>
              </a:extLst>
            </p:cNvPr>
            <p:cNvSpPr/>
            <p:nvPr/>
          </p:nvSpPr>
          <p:spPr>
            <a:xfrm>
              <a:off x="5425027" y="2212649"/>
              <a:ext cx="1099818" cy="2120735"/>
            </a:xfrm>
            <a:custGeom>
              <a:avLst/>
              <a:gdLst>
                <a:gd name="csX0" fmla="*/ 969348 w 1099818"/>
                <a:gd name="csY0" fmla="*/ 1021430 h 2120735"/>
                <a:gd name="csX1" fmla="*/ 955907 w 1099818"/>
                <a:gd name="csY1" fmla="*/ 1058858 h 2120735"/>
                <a:gd name="csX2" fmla="*/ 936615 w 1099818"/>
                <a:gd name="csY2" fmla="*/ 1100194 h 2120735"/>
                <a:gd name="csX3" fmla="*/ 1078073 w 1099818"/>
                <a:gd name="csY3" fmla="*/ 0 h 2120735"/>
                <a:gd name="csX4" fmla="*/ 1090093 w 1099818"/>
                <a:gd name="csY4" fmla="*/ 78763 h 2120735"/>
                <a:gd name="csX5" fmla="*/ 1099818 w 1099818"/>
                <a:gd name="csY5" fmla="*/ 271345 h 2120735"/>
                <a:gd name="csX6" fmla="*/ 1073057 w 1099818"/>
                <a:gd name="csY6" fmla="*/ 287602 h 2120735"/>
                <a:gd name="csX7" fmla="*/ 261109 w 1099818"/>
                <a:gd name="csY7" fmla="*/ 1814692 h 2120735"/>
                <a:gd name="csX8" fmla="*/ 267491 w 1099818"/>
                <a:gd name="csY8" fmla="*/ 1941078 h 2120735"/>
                <a:gd name="csX9" fmla="*/ 352878 w 1099818"/>
                <a:gd name="csY9" fmla="*/ 1877227 h 2120735"/>
                <a:gd name="csX10" fmla="*/ 797675 w 1099818"/>
                <a:gd name="csY10" fmla="*/ 1369655 h 2120735"/>
                <a:gd name="csX11" fmla="*/ 883856 w 1099818"/>
                <a:gd name="csY11" fmla="*/ 1213236 h 2120735"/>
                <a:gd name="csX12" fmla="*/ 848619 w 1099818"/>
                <a:gd name="csY12" fmla="*/ 1288739 h 2120735"/>
                <a:gd name="csX13" fmla="*/ 179372 w 1099818"/>
                <a:gd name="csY13" fmla="*/ 2025622 h 2120735"/>
                <a:gd name="csX14" fmla="*/ 22812 w 1099818"/>
                <a:gd name="csY14" fmla="*/ 2120735 h 2120735"/>
                <a:gd name="csX15" fmla="*/ 10791 w 1099818"/>
                <a:gd name="csY15" fmla="*/ 2041971 h 2120735"/>
                <a:gd name="csX16" fmla="*/ 0 w 1099818"/>
                <a:gd name="csY16" fmla="*/ 1828269 h 2120735"/>
                <a:gd name="csX17" fmla="*/ 921513 w 1099818"/>
                <a:gd name="csY17" fmla="*/ 95112 h 2120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099818" h="2120735">
                  <a:moveTo>
                    <a:pt x="969348" y="1021430"/>
                  </a:moveTo>
                  <a:lnTo>
                    <a:pt x="955907" y="1058858"/>
                  </a:lnTo>
                  <a:lnTo>
                    <a:pt x="936615" y="1100194"/>
                  </a:lnTo>
                  <a:close/>
                  <a:moveTo>
                    <a:pt x="1078073" y="0"/>
                  </a:moveTo>
                  <a:lnTo>
                    <a:pt x="1090093" y="78763"/>
                  </a:lnTo>
                  <a:lnTo>
                    <a:pt x="1099818" y="271345"/>
                  </a:lnTo>
                  <a:lnTo>
                    <a:pt x="1073057" y="287602"/>
                  </a:lnTo>
                  <a:cubicBezTo>
                    <a:pt x="583186" y="618552"/>
                    <a:pt x="261109" y="1179010"/>
                    <a:pt x="261109" y="1814692"/>
                  </a:cubicBezTo>
                  <a:lnTo>
                    <a:pt x="267491" y="1941078"/>
                  </a:lnTo>
                  <a:lnTo>
                    <a:pt x="352878" y="1877227"/>
                  </a:lnTo>
                  <a:cubicBezTo>
                    <a:pt x="527074" y="1733468"/>
                    <a:pt x="677584" y="1562033"/>
                    <a:pt x="797675" y="1369655"/>
                  </a:cubicBezTo>
                  <a:lnTo>
                    <a:pt x="883856" y="1213236"/>
                  </a:lnTo>
                  <a:lnTo>
                    <a:pt x="848619" y="1288739"/>
                  </a:lnTo>
                  <a:cubicBezTo>
                    <a:pt x="687737" y="1584894"/>
                    <a:pt x="457359" y="1837818"/>
                    <a:pt x="179372" y="2025622"/>
                  </a:cubicBezTo>
                  <a:lnTo>
                    <a:pt x="22812" y="2120735"/>
                  </a:lnTo>
                  <a:lnTo>
                    <a:pt x="10791" y="2041971"/>
                  </a:lnTo>
                  <a:cubicBezTo>
                    <a:pt x="3656" y="1971708"/>
                    <a:pt x="0" y="1900415"/>
                    <a:pt x="0" y="1828269"/>
                  </a:cubicBezTo>
                  <a:cubicBezTo>
                    <a:pt x="0" y="1106807"/>
                    <a:pt x="365538" y="470721"/>
                    <a:pt x="921513" y="95112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8120019B-7C59-A454-0DC9-27F0DFCC6344}"/>
                </a:ext>
              </a:extLst>
            </p:cNvPr>
            <p:cNvCxnSpPr>
              <a:cxnSpLocks/>
            </p:cNvCxnSpPr>
            <p:nvPr/>
          </p:nvCxnSpPr>
          <p:spPr>
            <a:xfrm>
              <a:off x="1320150" y="6216979"/>
              <a:ext cx="94407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7C2AC89A-3A0B-ADDD-64B5-F857120D44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0150" y="390293"/>
              <a:ext cx="0" cy="58266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A9D68A7F-9F55-5C0C-1D46-6BDF7D35F7D4}"/>
                </a:ext>
              </a:extLst>
            </p:cNvPr>
            <p:cNvSpPr txBox="1"/>
            <p:nvPr/>
          </p:nvSpPr>
          <p:spPr>
            <a:xfrm>
              <a:off x="9248061" y="6233395"/>
              <a:ext cx="1512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車関税率</a:t>
              </a: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8DBE6BA-BC16-7711-B6F3-7B6B392E10B7}"/>
                </a:ext>
              </a:extLst>
            </p:cNvPr>
            <p:cNvSpPr txBox="1"/>
            <p:nvPr/>
          </p:nvSpPr>
          <p:spPr>
            <a:xfrm>
              <a:off x="766152" y="390292"/>
              <a:ext cx="553998" cy="132343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肉関税率</a:t>
              </a:r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315745EF-73DF-9962-7224-81327106250E}"/>
                </a:ext>
              </a:extLst>
            </p:cNvPr>
            <p:cNvGrpSpPr/>
            <p:nvPr/>
          </p:nvGrpSpPr>
          <p:grpSpPr>
            <a:xfrm>
              <a:off x="2354479" y="390292"/>
              <a:ext cx="4180231" cy="4180231"/>
              <a:chOff x="1930271" y="273182"/>
              <a:chExt cx="4180231" cy="4180231"/>
            </a:xfrm>
          </p:grpSpPr>
          <p:sp>
            <p:nvSpPr>
              <p:cNvPr id="15" name="円/楕円 14">
                <a:extLst>
                  <a:ext uri="{FF2B5EF4-FFF2-40B4-BE49-F238E27FC236}">
                    <a16:creationId xmlns:a16="http://schemas.microsoft.com/office/drawing/2014/main" id="{24B10D17-745C-BB2E-9E08-AA269ACEBF8C}"/>
                  </a:ext>
                </a:extLst>
              </p:cNvPr>
              <p:cNvSpPr/>
              <p:nvPr/>
            </p:nvSpPr>
            <p:spPr>
              <a:xfrm>
                <a:off x="3945487" y="2247163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44A3F028-3406-C943-6E49-A4E06E0FE66F}"/>
                  </a:ext>
                </a:extLst>
              </p:cNvPr>
              <p:cNvSpPr txBox="1"/>
              <p:nvPr/>
            </p:nvSpPr>
            <p:spPr>
              <a:xfrm>
                <a:off x="3491129" y="2441089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日本</a:t>
                </a:r>
              </a:p>
            </p:txBody>
          </p:sp>
          <p:sp>
            <p:nvSpPr>
              <p:cNvPr id="17" name="円/楕円 16">
                <a:extLst>
                  <a:ext uri="{FF2B5EF4-FFF2-40B4-BE49-F238E27FC236}">
                    <a16:creationId xmlns:a16="http://schemas.microsoft.com/office/drawing/2014/main" id="{DAD37A57-1AB5-11C6-2BC3-A96FF880EA97}"/>
                  </a:ext>
                </a:extLst>
              </p:cNvPr>
              <p:cNvSpPr/>
              <p:nvPr/>
            </p:nvSpPr>
            <p:spPr>
              <a:xfrm>
                <a:off x="1930271" y="273182"/>
                <a:ext cx="4180231" cy="418023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BE3A5AE1-8589-B863-CE47-B617DA3199C6}"/>
                </a:ext>
              </a:extLst>
            </p:cNvPr>
            <p:cNvSpPr/>
            <p:nvPr/>
          </p:nvSpPr>
          <p:spPr>
            <a:xfrm>
              <a:off x="7450695" y="3920436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A3452040-05E8-D7F7-ED16-CA1714CAEE69}"/>
                </a:ext>
              </a:extLst>
            </p:cNvPr>
            <p:cNvGrpSpPr/>
            <p:nvPr/>
          </p:nvGrpSpPr>
          <p:grpSpPr>
            <a:xfrm>
              <a:off x="6270771" y="1711020"/>
              <a:ext cx="1024577" cy="555608"/>
              <a:chOff x="6270771" y="1711020"/>
              <a:chExt cx="1024577" cy="555608"/>
            </a:xfrm>
          </p:grpSpPr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1D2D73B-314C-18B9-DBED-077526329EA6}"/>
                  </a:ext>
                </a:extLst>
              </p:cNvPr>
              <p:cNvSpPr txBox="1"/>
              <p:nvPr/>
            </p:nvSpPr>
            <p:spPr>
              <a:xfrm>
                <a:off x="6270771" y="1711020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現状</a:t>
                </a:r>
              </a:p>
            </p:txBody>
          </p:sp>
          <p:sp>
            <p:nvSpPr>
              <p:cNvPr id="11" name="円/楕円 10">
                <a:extLst>
                  <a:ext uri="{FF2B5EF4-FFF2-40B4-BE49-F238E27FC236}">
                    <a16:creationId xmlns:a16="http://schemas.microsoft.com/office/drawing/2014/main" id="{B80E8429-8929-49AA-B422-08CF366D5329}"/>
                  </a:ext>
                </a:extLst>
              </p:cNvPr>
              <p:cNvSpPr/>
              <p:nvPr/>
            </p:nvSpPr>
            <p:spPr>
              <a:xfrm>
                <a:off x="6419541" y="2080078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BAB4E67D-9230-FB03-C682-9C83490A86F2}"/>
                </a:ext>
              </a:extLst>
            </p:cNvPr>
            <p:cNvGrpSpPr/>
            <p:nvPr/>
          </p:nvGrpSpPr>
          <p:grpSpPr>
            <a:xfrm>
              <a:off x="5433827" y="1926096"/>
              <a:ext cx="4180231" cy="4180231"/>
              <a:chOff x="5433827" y="1926096"/>
              <a:chExt cx="4180231" cy="4180231"/>
            </a:xfrm>
          </p:grpSpPr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9A1BC21-6D80-D772-2231-21AB2D05F686}"/>
                  </a:ext>
                </a:extLst>
              </p:cNvPr>
              <p:cNvSpPr txBox="1"/>
              <p:nvPr/>
            </p:nvSpPr>
            <p:spPr>
              <a:xfrm>
                <a:off x="6996337" y="4091460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米国</a:t>
                </a:r>
              </a:p>
            </p:txBody>
          </p:sp>
          <p:sp>
            <p:nvSpPr>
              <p:cNvPr id="14" name="円/楕円 13">
                <a:extLst>
                  <a:ext uri="{FF2B5EF4-FFF2-40B4-BE49-F238E27FC236}">
                    <a16:creationId xmlns:a16="http://schemas.microsoft.com/office/drawing/2014/main" id="{FA2CB520-5345-795B-E9AE-744A03FA2DE8}"/>
                  </a:ext>
                </a:extLst>
              </p:cNvPr>
              <p:cNvSpPr/>
              <p:nvPr/>
            </p:nvSpPr>
            <p:spPr>
              <a:xfrm>
                <a:off x="5433827" y="1926096"/>
                <a:ext cx="4180231" cy="4180231"/>
              </a:xfrm>
              <a:prstGeom prst="ellipse">
                <a:avLst/>
              </a:prstGeom>
              <a:noFill/>
              <a:ln w="19050">
                <a:solidFill>
                  <a:schemeClr val="tx1">
                    <a:alpha val="16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円/楕円 21">
                <a:extLst>
                  <a:ext uri="{FF2B5EF4-FFF2-40B4-BE49-F238E27FC236}">
                    <a16:creationId xmlns:a16="http://schemas.microsoft.com/office/drawing/2014/main" id="{0193A1DB-F72C-FDDC-3BA7-8EE9900CC7A8}"/>
                  </a:ext>
                </a:extLst>
              </p:cNvPr>
              <p:cNvSpPr/>
              <p:nvPr/>
            </p:nvSpPr>
            <p:spPr>
              <a:xfrm>
                <a:off x="5682334" y="2189100"/>
                <a:ext cx="3683216" cy="368321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8" name="フリーフォーム 37">
              <a:extLst>
                <a:ext uri="{FF2B5EF4-FFF2-40B4-BE49-F238E27FC236}">
                  <a16:creationId xmlns:a16="http://schemas.microsoft.com/office/drawing/2014/main" id="{0C79E5B4-3BE7-039C-6C70-4C6237E65637}"/>
                </a:ext>
              </a:extLst>
            </p:cNvPr>
            <p:cNvSpPr/>
            <p:nvPr/>
          </p:nvSpPr>
          <p:spPr>
            <a:xfrm>
              <a:off x="5694935" y="2464638"/>
              <a:ext cx="852377" cy="1677997"/>
            </a:xfrm>
            <a:custGeom>
              <a:avLst/>
              <a:gdLst>
                <a:gd name="csX0" fmla="*/ 852311 w 852377"/>
                <a:gd name="csY0" fmla="*/ 0 h 1677997"/>
                <a:gd name="csX1" fmla="*/ 852377 w 852377"/>
                <a:gd name="csY1" fmla="*/ 1311 h 1677997"/>
                <a:gd name="csX2" fmla="*/ 91769 w 852377"/>
                <a:gd name="csY2" fmla="*/ 1614146 h 1677997"/>
                <a:gd name="csX3" fmla="*/ 6382 w 852377"/>
                <a:gd name="csY3" fmla="*/ 1677997 h 1677997"/>
                <a:gd name="csX4" fmla="*/ 0 w 852377"/>
                <a:gd name="csY4" fmla="*/ 1551611 h 1677997"/>
                <a:gd name="csX5" fmla="*/ 811948 w 852377"/>
                <a:gd name="csY5" fmla="*/ 24521 h 1677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52377" h="1677997">
                  <a:moveTo>
                    <a:pt x="852311" y="0"/>
                  </a:moveTo>
                  <a:lnTo>
                    <a:pt x="852377" y="1311"/>
                  </a:lnTo>
                  <a:cubicBezTo>
                    <a:pt x="852377" y="650627"/>
                    <a:pt x="556292" y="1230788"/>
                    <a:pt x="91769" y="1614146"/>
                  </a:cubicBezTo>
                  <a:lnTo>
                    <a:pt x="6382" y="1677997"/>
                  </a:lnTo>
                  <a:lnTo>
                    <a:pt x="0" y="1551611"/>
                  </a:lnTo>
                  <a:cubicBezTo>
                    <a:pt x="0" y="915929"/>
                    <a:pt x="322077" y="355471"/>
                    <a:pt x="811948" y="24521"/>
                  </a:cubicBezTo>
                  <a:close/>
                </a:path>
              </a:pathLst>
            </a:custGeom>
            <a:solidFill>
              <a:srgbClr val="FF0000">
                <a:alpha val="36000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3439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F4E85AE5-6051-EF59-FD0E-8459BBE800C6}"/>
              </a:ext>
            </a:extLst>
          </p:cNvPr>
          <p:cNvGrpSpPr/>
          <p:nvPr/>
        </p:nvGrpSpPr>
        <p:grpSpPr>
          <a:xfrm>
            <a:off x="766152" y="390292"/>
            <a:ext cx="9994775" cy="6304768"/>
            <a:chOff x="766152" y="390292"/>
            <a:chExt cx="9994775" cy="6304768"/>
          </a:xfrm>
        </p:grpSpPr>
        <p:sp>
          <p:nvSpPr>
            <p:cNvPr id="3" name="フリーフォーム 2">
              <a:extLst>
                <a:ext uri="{FF2B5EF4-FFF2-40B4-BE49-F238E27FC236}">
                  <a16:creationId xmlns:a16="http://schemas.microsoft.com/office/drawing/2014/main" id="{E5454E52-49E9-A8DD-C7A7-15E0117D33F3}"/>
                </a:ext>
              </a:extLst>
            </p:cNvPr>
            <p:cNvSpPr/>
            <p:nvPr/>
          </p:nvSpPr>
          <p:spPr>
            <a:xfrm>
              <a:off x="5430308" y="2201557"/>
              <a:ext cx="1100884" cy="2120735"/>
            </a:xfrm>
            <a:custGeom>
              <a:avLst/>
              <a:gdLst>
                <a:gd name="csX0" fmla="*/ 1078073 w 1100884"/>
                <a:gd name="csY0" fmla="*/ 0 h 2120735"/>
                <a:gd name="csX1" fmla="*/ 1090093 w 1100884"/>
                <a:gd name="csY1" fmla="*/ 78763 h 2120735"/>
                <a:gd name="csX2" fmla="*/ 1100884 w 1100884"/>
                <a:gd name="csY2" fmla="*/ 292465 h 2120735"/>
                <a:gd name="csX3" fmla="*/ 179372 w 1100884"/>
                <a:gd name="csY3" fmla="*/ 2025622 h 2120735"/>
                <a:gd name="csX4" fmla="*/ 22812 w 1100884"/>
                <a:gd name="csY4" fmla="*/ 2120735 h 2120735"/>
                <a:gd name="csX5" fmla="*/ 10791 w 1100884"/>
                <a:gd name="csY5" fmla="*/ 2041971 h 2120735"/>
                <a:gd name="csX6" fmla="*/ 0 w 1100884"/>
                <a:gd name="csY6" fmla="*/ 1828269 h 2120735"/>
                <a:gd name="csX7" fmla="*/ 921513 w 1100884"/>
                <a:gd name="csY7" fmla="*/ 95112 h 2120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00884" h="2120735">
                  <a:moveTo>
                    <a:pt x="1078073" y="0"/>
                  </a:moveTo>
                  <a:lnTo>
                    <a:pt x="1090093" y="78763"/>
                  </a:lnTo>
                  <a:cubicBezTo>
                    <a:pt x="1097229" y="149027"/>
                    <a:pt x="1100884" y="220319"/>
                    <a:pt x="1100884" y="292465"/>
                  </a:cubicBezTo>
                  <a:cubicBezTo>
                    <a:pt x="1100884" y="1013927"/>
                    <a:pt x="735346" y="1650013"/>
                    <a:pt x="179372" y="2025622"/>
                  </a:cubicBezTo>
                  <a:lnTo>
                    <a:pt x="22812" y="2120735"/>
                  </a:lnTo>
                  <a:lnTo>
                    <a:pt x="10791" y="2041971"/>
                  </a:lnTo>
                  <a:cubicBezTo>
                    <a:pt x="3656" y="1971708"/>
                    <a:pt x="0" y="1900415"/>
                    <a:pt x="0" y="1828269"/>
                  </a:cubicBezTo>
                  <a:cubicBezTo>
                    <a:pt x="0" y="1106807"/>
                    <a:pt x="365538" y="470721"/>
                    <a:pt x="921513" y="95112"/>
                  </a:cubicBezTo>
                  <a:close/>
                </a:path>
              </a:pathLst>
            </a:custGeom>
            <a:solidFill>
              <a:srgbClr val="FF0000">
                <a:alpha val="45999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4E151D69-B31D-3277-7361-506A1D5904EF}"/>
                </a:ext>
              </a:extLst>
            </p:cNvPr>
            <p:cNvCxnSpPr>
              <a:cxnSpLocks/>
            </p:cNvCxnSpPr>
            <p:nvPr/>
          </p:nvCxnSpPr>
          <p:spPr>
            <a:xfrm>
              <a:off x="1320150" y="6216979"/>
              <a:ext cx="94407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784ACAAE-302C-0CB8-A65E-3DBB3A97AB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0150" y="390293"/>
              <a:ext cx="0" cy="58266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50895C3F-CD38-89D7-7967-0F187E63969A}"/>
                </a:ext>
              </a:extLst>
            </p:cNvPr>
            <p:cNvSpPr txBox="1"/>
            <p:nvPr/>
          </p:nvSpPr>
          <p:spPr>
            <a:xfrm>
              <a:off x="9248061" y="6233395"/>
              <a:ext cx="1512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車関税率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1E5A6A4-B182-AEB3-761A-B1768759B7FA}"/>
                </a:ext>
              </a:extLst>
            </p:cNvPr>
            <p:cNvSpPr txBox="1"/>
            <p:nvPr/>
          </p:nvSpPr>
          <p:spPr>
            <a:xfrm>
              <a:off x="766152" y="390292"/>
              <a:ext cx="553998" cy="132343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肉関税率</a:t>
              </a: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D5C63E5B-692D-2B2C-3CE9-3AF995BB007B}"/>
                </a:ext>
              </a:extLst>
            </p:cNvPr>
            <p:cNvSpPr/>
            <p:nvPr/>
          </p:nvSpPr>
          <p:spPr>
            <a:xfrm>
              <a:off x="4369695" y="2364273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B953EC5E-B9E8-AD83-C788-3E7532EFC60E}"/>
                </a:ext>
              </a:extLst>
            </p:cNvPr>
            <p:cNvSpPr txBox="1"/>
            <p:nvPr/>
          </p:nvSpPr>
          <p:spPr>
            <a:xfrm>
              <a:off x="3915337" y="2558199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日本</a:t>
              </a: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0136DDD4-DFD2-A49C-795B-8FBE6777A86D}"/>
                </a:ext>
              </a:extLst>
            </p:cNvPr>
            <p:cNvSpPr/>
            <p:nvPr/>
          </p:nvSpPr>
          <p:spPr>
            <a:xfrm>
              <a:off x="2354479" y="390292"/>
              <a:ext cx="4180231" cy="4180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F48A6AE7-0946-C834-1169-4C158D4120EA}"/>
                </a:ext>
              </a:extLst>
            </p:cNvPr>
            <p:cNvSpPr txBox="1"/>
            <p:nvPr/>
          </p:nvSpPr>
          <p:spPr>
            <a:xfrm>
              <a:off x="6996337" y="4091460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米国</a:t>
              </a:r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7681348B-BBEF-DB6A-F1CB-F6C73388D23B}"/>
                </a:ext>
              </a:extLst>
            </p:cNvPr>
            <p:cNvSpPr/>
            <p:nvPr/>
          </p:nvSpPr>
          <p:spPr>
            <a:xfrm>
              <a:off x="7450695" y="3920436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CBFA7FEE-19AF-480E-AC9E-1CF4AB64580A}"/>
                </a:ext>
              </a:extLst>
            </p:cNvPr>
            <p:cNvSpPr/>
            <p:nvPr/>
          </p:nvSpPr>
          <p:spPr>
            <a:xfrm>
              <a:off x="5433827" y="1926096"/>
              <a:ext cx="4180231" cy="4180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5BDB9DB2-C654-DC04-9BF6-75596D13F4F3}"/>
                </a:ext>
              </a:extLst>
            </p:cNvPr>
            <p:cNvGrpSpPr/>
            <p:nvPr/>
          </p:nvGrpSpPr>
          <p:grpSpPr>
            <a:xfrm>
              <a:off x="6270771" y="1711020"/>
              <a:ext cx="1024577" cy="555608"/>
              <a:chOff x="6270771" y="1711020"/>
              <a:chExt cx="1024577" cy="555608"/>
            </a:xfrm>
          </p:grpSpPr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B9B4822-B59F-B0C2-0864-456CD6D2991B}"/>
                  </a:ext>
                </a:extLst>
              </p:cNvPr>
              <p:cNvSpPr txBox="1"/>
              <p:nvPr/>
            </p:nvSpPr>
            <p:spPr>
              <a:xfrm>
                <a:off x="6270771" y="1711020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現状</a:t>
                </a:r>
              </a:p>
            </p:txBody>
          </p:sp>
          <p:sp>
            <p:nvSpPr>
              <p:cNvPr id="18" name="円/楕円 17">
                <a:extLst>
                  <a:ext uri="{FF2B5EF4-FFF2-40B4-BE49-F238E27FC236}">
                    <a16:creationId xmlns:a16="http://schemas.microsoft.com/office/drawing/2014/main" id="{5EB2BA54-6639-ACE9-A89D-D44D4B3541A7}"/>
                  </a:ext>
                </a:extLst>
              </p:cNvPr>
              <p:cNvSpPr/>
              <p:nvPr/>
            </p:nvSpPr>
            <p:spPr>
              <a:xfrm>
                <a:off x="6419541" y="2080078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C2923DBE-51CE-C65C-27B2-3F7721C05613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4158241" y="3279228"/>
              <a:ext cx="1801125" cy="146510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B8AD853D-7882-07F4-0752-39724B22B4C6}"/>
                </a:ext>
              </a:extLst>
            </p:cNvPr>
            <p:cNvSpPr txBox="1"/>
            <p:nvPr/>
          </p:nvSpPr>
          <p:spPr>
            <a:xfrm>
              <a:off x="1320149" y="4744336"/>
              <a:ext cx="5676184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契約曲線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</a:t>
              </a:r>
              <a:r>
                <a:rPr kumimoji="1" lang="en-US" altLang="ja-JP" sz="24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contract curve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＝片方の得か片方の損になる状況の集合</a:t>
              </a:r>
              <a:br>
                <a:rPr kumimoji="1" lang="en-US" altLang="ja-JP" sz="24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</a:b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（→</a:t>
              </a:r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パレート最適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な状態）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A1D356CC-1D4E-8A6A-0BED-0FF77FAA54BF}"/>
                </a:ext>
              </a:extLst>
            </p:cNvPr>
            <p:cNvCxnSpPr>
              <a:cxnSpLocks/>
              <a:stCxn id="8" idx="6"/>
              <a:endCxn id="12" idx="2"/>
            </p:cNvCxnSpPr>
            <p:nvPr/>
          </p:nvCxnSpPr>
          <p:spPr>
            <a:xfrm>
              <a:off x="4556245" y="2457548"/>
              <a:ext cx="2894450" cy="1556163"/>
            </a:xfrm>
            <a:prstGeom prst="line">
              <a:avLst/>
            </a:prstGeom>
            <a:ln w="38100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C8B4559A-D62E-E818-793A-02E7FCF94ADD}"/>
                </a:ext>
              </a:extLst>
            </p:cNvPr>
            <p:cNvCxnSpPr>
              <a:cxnSpLocks/>
            </p:cNvCxnSpPr>
            <p:nvPr/>
          </p:nvCxnSpPr>
          <p:spPr>
            <a:xfrm>
              <a:off x="5667270" y="3054028"/>
              <a:ext cx="655447" cy="34957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1014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C88464A-9395-BB4E-370C-29D773A81985}"/>
              </a:ext>
            </a:extLst>
          </p:cNvPr>
          <p:cNvGrpSpPr/>
          <p:nvPr/>
        </p:nvGrpSpPr>
        <p:grpSpPr>
          <a:xfrm>
            <a:off x="766152" y="390292"/>
            <a:ext cx="9994775" cy="6304768"/>
            <a:chOff x="766152" y="390292"/>
            <a:chExt cx="9994775" cy="6304768"/>
          </a:xfrm>
        </p:grpSpPr>
        <p:sp>
          <p:nvSpPr>
            <p:cNvPr id="3" name="フリーフォーム 2">
              <a:extLst>
                <a:ext uri="{FF2B5EF4-FFF2-40B4-BE49-F238E27FC236}">
                  <a16:creationId xmlns:a16="http://schemas.microsoft.com/office/drawing/2014/main" id="{61E6E7CC-0365-FD7B-E37E-157251213AA3}"/>
                </a:ext>
              </a:extLst>
            </p:cNvPr>
            <p:cNvSpPr/>
            <p:nvPr/>
          </p:nvSpPr>
          <p:spPr>
            <a:xfrm>
              <a:off x="5430308" y="2201557"/>
              <a:ext cx="1100884" cy="2120735"/>
            </a:xfrm>
            <a:custGeom>
              <a:avLst/>
              <a:gdLst>
                <a:gd name="csX0" fmla="*/ 1078073 w 1100884"/>
                <a:gd name="csY0" fmla="*/ 0 h 2120735"/>
                <a:gd name="csX1" fmla="*/ 1090093 w 1100884"/>
                <a:gd name="csY1" fmla="*/ 78763 h 2120735"/>
                <a:gd name="csX2" fmla="*/ 1100884 w 1100884"/>
                <a:gd name="csY2" fmla="*/ 292465 h 2120735"/>
                <a:gd name="csX3" fmla="*/ 179372 w 1100884"/>
                <a:gd name="csY3" fmla="*/ 2025622 h 2120735"/>
                <a:gd name="csX4" fmla="*/ 22812 w 1100884"/>
                <a:gd name="csY4" fmla="*/ 2120735 h 2120735"/>
                <a:gd name="csX5" fmla="*/ 10791 w 1100884"/>
                <a:gd name="csY5" fmla="*/ 2041971 h 2120735"/>
                <a:gd name="csX6" fmla="*/ 0 w 1100884"/>
                <a:gd name="csY6" fmla="*/ 1828269 h 2120735"/>
                <a:gd name="csX7" fmla="*/ 921513 w 1100884"/>
                <a:gd name="csY7" fmla="*/ 95112 h 2120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00884" h="2120735">
                  <a:moveTo>
                    <a:pt x="1078073" y="0"/>
                  </a:moveTo>
                  <a:lnTo>
                    <a:pt x="1090093" y="78763"/>
                  </a:lnTo>
                  <a:cubicBezTo>
                    <a:pt x="1097229" y="149027"/>
                    <a:pt x="1100884" y="220319"/>
                    <a:pt x="1100884" y="292465"/>
                  </a:cubicBezTo>
                  <a:cubicBezTo>
                    <a:pt x="1100884" y="1013927"/>
                    <a:pt x="735346" y="1650013"/>
                    <a:pt x="179372" y="2025622"/>
                  </a:cubicBezTo>
                  <a:lnTo>
                    <a:pt x="22812" y="2120735"/>
                  </a:lnTo>
                  <a:lnTo>
                    <a:pt x="10791" y="2041971"/>
                  </a:lnTo>
                  <a:cubicBezTo>
                    <a:pt x="3656" y="1971708"/>
                    <a:pt x="0" y="1900415"/>
                    <a:pt x="0" y="1828269"/>
                  </a:cubicBezTo>
                  <a:cubicBezTo>
                    <a:pt x="0" y="1106807"/>
                    <a:pt x="365538" y="470721"/>
                    <a:pt x="921513" y="95112"/>
                  </a:cubicBezTo>
                  <a:close/>
                </a:path>
              </a:pathLst>
            </a:custGeom>
            <a:solidFill>
              <a:srgbClr val="FF0000">
                <a:alpha val="45999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B9377C3D-4D2A-71FD-1794-DFDB9677B685}"/>
                </a:ext>
              </a:extLst>
            </p:cNvPr>
            <p:cNvCxnSpPr>
              <a:cxnSpLocks/>
            </p:cNvCxnSpPr>
            <p:nvPr/>
          </p:nvCxnSpPr>
          <p:spPr>
            <a:xfrm>
              <a:off x="1320150" y="6216979"/>
              <a:ext cx="94407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B8F53641-82B5-25E7-ADEE-EAED700169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0150" y="390293"/>
              <a:ext cx="0" cy="58266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6116F70-DB13-C461-6969-83EDE1E54319}"/>
                </a:ext>
              </a:extLst>
            </p:cNvPr>
            <p:cNvSpPr txBox="1"/>
            <p:nvPr/>
          </p:nvSpPr>
          <p:spPr>
            <a:xfrm>
              <a:off x="9248061" y="6233395"/>
              <a:ext cx="1512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車関税率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233262C-ED73-FD61-3149-E85C60098166}"/>
                </a:ext>
              </a:extLst>
            </p:cNvPr>
            <p:cNvSpPr txBox="1"/>
            <p:nvPr/>
          </p:nvSpPr>
          <p:spPr>
            <a:xfrm>
              <a:off x="766152" y="390292"/>
              <a:ext cx="553998" cy="132343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肉関税率</a:t>
              </a: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8C11CBAB-25C6-3AD4-438F-EEEA9CBE0ABF}"/>
                </a:ext>
              </a:extLst>
            </p:cNvPr>
            <p:cNvSpPr/>
            <p:nvPr/>
          </p:nvSpPr>
          <p:spPr>
            <a:xfrm>
              <a:off x="4369695" y="2364273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B1DD09F2-B482-AA40-9126-0DD85DEB6FD1}"/>
                </a:ext>
              </a:extLst>
            </p:cNvPr>
            <p:cNvSpPr txBox="1"/>
            <p:nvPr/>
          </p:nvSpPr>
          <p:spPr>
            <a:xfrm>
              <a:off x="3915337" y="2558199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日本</a:t>
              </a: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8700584B-872A-05AD-C98C-859A7C1637E1}"/>
                </a:ext>
              </a:extLst>
            </p:cNvPr>
            <p:cNvSpPr/>
            <p:nvPr/>
          </p:nvSpPr>
          <p:spPr>
            <a:xfrm>
              <a:off x="2354479" y="390292"/>
              <a:ext cx="4180231" cy="4180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DE9F0037-CC82-985F-9256-895AFCB3702C}"/>
                </a:ext>
              </a:extLst>
            </p:cNvPr>
            <p:cNvSpPr txBox="1"/>
            <p:nvPr/>
          </p:nvSpPr>
          <p:spPr>
            <a:xfrm>
              <a:off x="6996337" y="4091460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米国</a:t>
              </a:r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90FA50F0-7D8C-2052-7643-DA14DA208615}"/>
                </a:ext>
              </a:extLst>
            </p:cNvPr>
            <p:cNvSpPr/>
            <p:nvPr/>
          </p:nvSpPr>
          <p:spPr>
            <a:xfrm>
              <a:off x="7450695" y="3920436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8007B004-25B6-845D-DE63-9B0357719EF0}"/>
                </a:ext>
              </a:extLst>
            </p:cNvPr>
            <p:cNvSpPr/>
            <p:nvPr/>
          </p:nvSpPr>
          <p:spPr>
            <a:xfrm>
              <a:off x="5433827" y="1926096"/>
              <a:ext cx="4180231" cy="4180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3D8C49CB-B2C2-EEBE-BD0B-4372F3BBF9A2}"/>
                </a:ext>
              </a:extLst>
            </p:cNvPr>
            <p:cNvGrpSpPr/>
            <p:nvPr/>
          </p:nvGrpSpPr>
          <p:grpSpPr>
            <a:xfrm>
              <a:off x="6270771" y="1711020"/>
              <a:ext cx="1024577" cy="555608"/>
              <a:chOff x="6270771" y="1711020"/>
              <a:chExt cx="1024577" cy="555608"/>
            </a:xfrm>
          </p:grpSpPr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C16392A-B541-8F71-8860-616DAFD07A4D}"/>
                  </a:ext>
                </a:extLst>
              </p:cNvPr>
              <p:cNvSpPr txBox="1"/>
              <p:nvPr/>
            </p:nvSpPr>
            <p:spPr>
              <a:xfrm>
                <a:off x="6270771" y="1711020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現状</a:t>
                </a:r>
              </a:p>
            </p:txBody>
          </p:sp>
          <p:sp>
            <p:nvSpPr>
              <p:cNvPr id="18" name="円/楕円 17">
                <a:extLst>
                  <a:ext uri="{FF2B5EF4-FFF2-40B4-BE49-F238E27FC236}">
                    <a16:creationId xmlns:a16="http://schemas.microsoft.com/office/drawing/2014/main" id="{03A912D8-F053-EDB4-6D38-EAA427851EA0}"/>
                  </a:ext>
                </a:extLst>
              </p:cNvPr>
              <p:cNvSpPr/>
              <p:nvPr/>
            </p:nvSpPr>
            <p:spPr>
              <a:xfrm>
                <a:off x="6419541" y="2080078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B9014431-A99D-6E96-2CC8-AAA30D9F2549}"/>
                </a:ext>
              </a:extLst>
            </p:cNvPr>
            <p:cNvSpPr txBox="1"/>
            <p:nvPr/>
          </p:nvSpPr>
          <p:spPr>
            <a:xfrm>
              <a:off x="1320149" y="4744336"/>
              <a:ext cx="4006942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altLang="ja-JP" sz="2400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a</a:t>
              </a:r>
              <a:r>
                <a:rPr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点</a:t>
              </a:r>
              <a:r>
                <a:rPr lang="en-US" altLang="ja-JP" sz="24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…⽇</a:t>
              </a:r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本の取り分が多い</a:t>
              </a:r>
            </a:p>
            <a:p>
              <a:r>
                <a:rPr lang="en-GB" altLang="ja-JP" sz="2400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m</a:t>
              </a:r>
              <a:r>
                <a:rPr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点</a:t>
              </a:r>
              <a:r>
                <a:rPr lang="en-US" altLang="ja-JP" sz="24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…⽇⽶</a:t>
              </a:r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の取り分は同じ</a:t>
              </a:r>
            </a:p>
            <a:p>
              <a:r>
                <a:rPr lang="en-GB" altLang="ja-JP" sz="2400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b</a:t>
              </a:r>
              <a:r>
                <a:rPr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点</a:t>
              </a:r>
              <a:r>
                <a:rPr lang="en-US" altLang="ja-JP" sz="24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…⽶</a:t>
              </a:r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国の取り分が多い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202F19A7-7168-7E93-F3A2-5C96746AEC42}"/>
                </a:ext>
              </a:extLst>
            </p:cNvPr>
            <p:cNvCxnSpPr>
              <a:cxnSpLocks/>
            </p:cNvCxnSpPr>
            <p:nvPr/>
          </p:nvCxnSpPr>
          <p:spPr>
            <a:xfrm>
              <a:off x="5667270" y="3054028"/>
              <a:ext cx="655447" cy="34957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円/楕円 19">
              <a:extLst>
                <a:ext uri="{FF2B5EF4-FFF2-40B4-BE49-F238E27FC236}">
                  <a16:creationId xmlns:a16="http://schemas.microsoft.com/office/drawing/2014/main" id="{59EE887E-1993-80CD-9686-CFC2A0ED0210}"/>
                </a:ext>
              </a:extLst>
            </p:cNvPr>
            <p:cNvSpPr/>
            <p:nvPr/>
          </p:nvSpPr>
          <p:spPr>
            <a:xfrm>
              <a:off x="5595889" y="2960753"/>
              <a:ext cx="157211" cy="1572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FF0000"/>
                </a:solidFill>
              </a:endParaRPr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ECC26969-289C-5FA6-41D3-9EDBEAF19B29}"/>
                </a:ext>
              </a:extLst>
            </p:cNvPr>
            <p:cNvSpPr/>
            <p:nvPr/>
          </p:nvSpPr>
          <p:spPr>
            <a:xfrm>
              <a:off x="5916387" y="3146425"/>
              <a:ext cx="157211" cy="1572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FF0000"/>
                </a:solidFill>
              </a:endParaRPr>
            </a:p>
          </p:txBody>
        </p:sp>
        <p:sp>
          <p:nvSpPr>
            <p:cNvPr id="22" name="円/楕円 21">
              <a:extLst>
                <a:ext uri="{FF2B5EF4-FFF2-40B4-BE49-F238E27FC236}">
                  <a16:creationId xmlns:a16="http://schemas.microsoft.com/office/drawing/2014/main" id="{0D50D751-9D11-9825-45D1-754D181D898A}"/>
                </a:ext>
              </a:extLst>
            </p:cNvPr>
            <p:cNvSpPr/>
            <p:nvPr/>
          </p:nvSpPr>
          <p:spPr>
            <a:xfrm>
              <a:off x="6262330" y="3324994"/>
              <a:ext cx="157211" cy="1572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FF0000"/>
                </a:solidFill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86266535-2C1C-3BEF-657B-C1B12ABEC081}"/>
                </a:ext>
              </a:extLst>
            </p:cNvPr>
            <p:cNvSpPr txBox="1"/>
            <p:nvPr/>
          </p:nvSpPr>
          <p:spPr>
            <a:xfrm>
              <a:off x="5327098" y="2586740"/>
              <a:ext cx="44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>
                  <a:solidFill>
                    <a:srgbClr val="FF0000"/>
                  </a:solidFill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a</a:t>
              </a:r>
              <a:endParaRPr kumimoji="1" lang="ja-JP" altLang="en-US" sz="2400">
                <a:solidFill>
                  <a:srgbClr val="FF0000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05B3398C-20BF-FE2E-4AB9-7E2A2134BB75}"/>
                </a:ext>
              </a:extLst>
            </p:cNvPr>
            <p:cNvSpPr txBox="1"/>
            <p:nvPr/>
          </p:nvSpPr>
          <p:spPr>
            <a:xfrm>
              <a:off x="5796592" y="2753930"/>
              <a:ext cx="44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>
                  <a:solidFill>
                    <a:srgbClr val="FF0000"/>
                  </a:solidFill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m</a:t>
              </a:r>
              <a:endParaRPr kumimoji="1" lang="ja-JP" altLang="en-US" sz="2400">
                <a:solidFill>
                  <a:srgbClr val="FF0000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5ED4EB3-4ED1-1CA5-7140-0964AB7F551A}"/>
                </a:ext>
              </a:extLst>
            </p:cNvPr>
            <p:cNvSpPr txBox="1"/>
            <p:nvPr/>
          </p:nvSpPr>
          <p:spPr>
            <a:xfrm>
              <a:off x="6345209" y="3146425"/>
              <a:ext cx="446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>
                  <a:solidFill>
                    <a:srgbClr val="FF0000"/>
                  </a:solidFill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b</a:t>
              </a:r>
              <a:endParaRPr kumimoji="1" lang="ja-JP" altLang="en-US" sz="2400">
                <a:solidFill>
                  <a:srgbClr val="FF0000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622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4579EB51-CF4C-9852-533B-A46400EAE4F6}"/>
              </a:ext>
            </a:extLst>
          </p:cNvPr>
          <p:cNvGrpSpPr/>
          <p:nvPr/>
        </p:nvGrpSpPr>
        <p:grpSpPr>
          <a:xfrm>
            <a:off x="766152" y="390292"/>
            <a:ext cx="9994775" cy="6304768"/>
            <a:chOff x="766152" y="390292"/>
            <a:chExt cx="9994775" cy="6304768"/>
          </a:xfrm>
        </p:grpSpPr>
        <p:sp>
          <p:nvSpPr>
            <p:cNvPr id="3" name="フリーフォーム 2">
              <a:extLst>
                <a:ext uri="{FF2B5EF4-FFF2-40B4-BE49-F238E27FC236}">
                  <a16:creationId xmlns:a16="http://schemas.microsoft.com/office/drawing/2014/main" id="{60C23382-3A9A-C94D-36A6-6F65D4B4BC82}"/>
                </a:ext>
              </a:extLst>
            </p:cNvPr>
            <p:cNvSpPr/>
            <p:nvPr/>
          </p:nvSpPr>
          <p:spPr>
            <a:xfrm>
              <a:off x="5430308" y="2201557"/>
              <a:ext cx="1100884" cy="2120735"/>
            </a:xfrm>
            <a:custGeom>
              <a:avLst/>
              <a:gdLst>
                <a:gd name="csX0" fmla="*/ 1078073 w 1100884"/>
                <a:gd name="csY0" fmla="*/ 0 h 2120735"/>
                <a:gd name="csX1" fmla="*/ 1090093 w 1100884"/>
                <a:gd name="csY1" fmla="*/ 78763 h 2120735"/>
                <a:gd name="csX2" fmla="*/ 1100884 w 1100884"/>
                <a:gd name="csY2" fmla="*/ 292465 h 2120735"/>
                <a:gd name="csX3" fmla="*/ 179372 w 1100884"/>
                <a:gd name="csY3" fmla="*/ 2025622 h 2120735"/>
                <a:gd name="csX4" fmla="*/ 22812 w 1100884"/>
                <a:gd name="csY4" fmla="*/ 2120735 h 2120735"/>
                <a:gd name="csX5" fmla="*/ 10791 w 1100884"/>
                <a:gd name="csY5" fmla="*/ 2041971 h 2120735"/>
                <a:gd name="csX6" fmla="*/ 0 w 1100884"/>
                <a:gd name="csY6" fmla="*/ 1828269 h 2120735"/>
                <a:gd name="csX7" fmla="*/ 921513 w 1100884"/>
                <a:gd name="csY7" fmla="*/ 95112 h 21207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00884" h="2120735">
                  <a:moveTo>
                    <a:pt x="1078073" y="0"/>
                  </a:moveTo>
                  <a:lnTo>
                    <a:pt x="1090093" y="78763"/>
                  </a:lnTo>
                  <a:cubicBezTo>
                    <a:pt x="1097229" y="149027"/>
                    <a:pt x="1100884" y="220319"/>
                    <a:pt x="1100884" y="292465"/>
                  </a:cubicBezTo>
                  <a:cubicBezTo>
                    <a:pt x="1100884" y="1013927"/>
                    <a:pt x="735346" y="1650013"/>
                    <a:pt x="179372" y="2025622"/>
                  </a:cubicBezTo>
                  <a:lnTo>
                    <a:pt x="22812" y="2120735"/>
                  </a:lnTo>
                  <a:lnTo>
                    <a:pt x="10791" y="2041971"/>
                  </a:lnTo>
                  <a:cubicBezTo>
                    <a:pt x="3656" y="1971708"/>
                    <a:pt x="0" y="1900415"/>
                    <a:pt x="0" y="1828269"/>
                  </a:cubicBezTo>
                  <a:cubicBezTo>
                    <a:pt x="0" y="1106807"/>
                    <a:pt x="365538" y="470721"/>
                    <a:pt x="921513" y="95112"/>
                  </a:cubicBezTo>
                  <a:close/>
                </a:path>
              </a:pathLst>
            </a:custGeom>
            <a:solidFill>
              <a:srgbClr val="FF0000">
                <a:alpha val="45999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848D91C4-7FA1-137C-4D21-DC6C1818F510}"/>
                </a:ext>
              </a:extLst>
            </p:cNvPr>
            <p:cNvCxnSpPr>
              <a:cxnSpLocks/>
            </p:cNvCxnSpPr>
            <p:nvPr/>
          </p:nvCxnSpPr>
          <p:spPr>
            <a:xfrm>
              <a:off x="1320150" y="6216979"/>
              <a:ext cx="944077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34DF99BE-70BA-935E-2AF2-9233FA8E34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0150" y="390293"/>
              <a:ext cx="0" cy="58266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77920265-C9C5-ED05-2D2A-6DC928FCE3DC}"/>
                </a:ext>
              </a:extLst>
            </p:cNvPr>
            <p:cNvSpPr txBox="1"/>
            <p:nvPr/>
          </p:nvSpPr>
          <p:spPr>
            <a:xfrm>
              <a:off x="9248061" y="6233395"/>
              <a:ext cx="15128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車関税率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A61F1EE-CBAF-D1B1-4E89-E094DDE6CFEB}"/>
                </a:ext>
              </a:extLst>
            </p:cNvPr>
            <p:cNvSpPr txBox="1"/>
            <p:nvPr/>
          </p:nvSpPr>
          <p:spPr>
            <a:xfrm>
              <a:off x="766152" y="390292"/>
              <a:ext cx="553998" cy="1323439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肉関税率</a:t>
              </a: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112E332B-430F-3325-A388-08B00B29E357}"/>
                </a:ext>
              </a:extLst>
            </p:cNvPr>
            <p:cNvSpPr/>
            <p:nvPr/>
          </p:nvSpPr>
          <p:spPr>
            <a:xfrm>
              <a:off x="4369695" y="2364273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C6652CB4-0252-58C0-B104-3A9AC7C7E6C2}"/>
                </a:ext>
              </a:extLst>
            </p:cNvPr>
            <p:cNvSpPr txBox="1"/>
            <p:nvPr/>
          </p:nvSpPr>
          <p:spPr>
            <a:xfrm>
              <a:off x="3915337" y="2558199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日本</a:t>
              </a: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921E4656-C970-3B94-2695-CF54D31C2EBA}"/>
                </a:ext>
              </a:extLst>
            </p:cNvPr>
            <p:cNvSpPr/>
            <p:nvPr/>
          </p:nvSpPr>
          <p:spPr>
            <a:xfrm>
              <a:off x="2354479" y="390292"/>
              <a:ext cx="4180231" cy="4180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BBE65FD7-B9F6-33A7-E288-E23ECDB64AB6}"/>
                </a:ext>
              </a:extLst>
            </p:cNvPr>
            <p:cNvSpPr txBox="1"/>
            <p:nvPr/>
          </p:nvSpPr>
          <p:spPr>
            <a:xfrm>
              <a:off x="6996337" y="4091460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米国</a:t>
              </a:r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D9245954-F094-FC5D-A5BE-3268980E97D7}"/>
                </a:ext>
              </a:extLst>
            </p:cNvPr>
            <p:cNvSpPr/>
            <p:nvPr/>
          </p:nvSpPr>
          <p:spPr>
            <a:xfrm>
              <a:off x="7450695" y="3920436"/>
              <a:ext cx="186550" cy="1865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F5B11BCA-1BC2-A618-0AB4-064D724FE5EC}"/>
                </a:ext>
              </a:extLst>
            </p:cNvPr>
            <p:cNvSpPr/>
            <p:nvPr/>
          </p:nvSpPr>
          <p:spPr>
            <a:xfrm>
              <a:off x="5433827" y="1926096"/>
              <a:ext cx="4180231" cy="418023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3D83866B-1418-93EA-D88E-CC4B72335825}"/>
                </a:ext>
              </a:extLst>
            </p:cNvPr>
            <p:cNvGrpSpPr/>
            <p:nvPr/>
          </p:nvGrpSpPr>
          <p:grpSpPr>
            <a:xfrm>
              <a:off x="6270771" y="1711020"/>
              <a:ext cx="1024577" cy="555608"/>
              <a:chOff x="6270771" y="1711020"/>
              <a:chExt cx="1024577" cy="555608"/>
            </a:xfrm>
          </p:grpSpPr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4BC8E6CE-59B7-D196-7E4D-3F45727A9E85}"/>
                  </a:ext>
                </a:extLst>
              </p:cNvPr>
              <p:cNvSpPr txBox="1"/>
              <p:nvPr/>
            </p:nvSpPr>
            <p:spPr>
              <a:xfrm>
                <a:off x="6270771" y="1711020"/>
                <a:ext cx="1024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現状</a:t>
                </a:r>
              </a:p>
            </p:txBody>
          </p:sp>
          <p:sp>
            <p:nvSpPr>
              <p:cNvPr id="20" name="円/楕円 19">
                <a:extLst>
                  <a:ext uri="{FF2B5EF4-FFF2-40B4-BE49-F238E27FC236}">
                    <a16:creationId xmlns:a16="http://schemas.microsoft.com/office/drawing/2014/main" id="{0CA3205C-C655-7C64-9994-600CD4FDE626}"/>
                  </a:ext>
                </a:extLst>
              </p:cNvPr>
              <p:cNvSpPr/>
              <p:nvPr/>
            </p:nvSpPr>
            <p:spPr>
              <a:xfrm>
                <a:off x="6419541" y="2080078"/>
                <a:ext cx="186550" cy="18655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6373A83-A4F1-7D6D-085C-4EDDF5046AB1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4158241" y="3279228"/>
              <a:ext cx="1801125" cy="146510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81F050CE-C6CC-474C-0231-7E2AADB485B8}"/>
                </a:ext>
              </a:extLst>
            </p:cNvPr>
            <p:cNvSpPr txBox="1"/>
            <p:nvPr/>
          </p:nvSpPr>
          <p:spPr>
            <a:xfrm>
              <a:off x="1320149" y="4744336"/>
              <a:ext cx="5676184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契約曲線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</a:t>
              </a:r>
              <a:r>
                <a:rPr kumimoji="1" lang="en-US" altLang="ja-JP" sz="24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contract curve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＝片方の得か片方の損になる状況の集合</a:t>
              </a:r>
              <a:br>
                <a:rPr kumimoji="1" lang="en-US" altLang="ja-JP" sz="24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</a:b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（→</a:t>
              </a:r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パレート最適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な状態）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D6AAE2C2-114D-4A51-A8F5-26C3F6DB1438}"/>
                </a:ext>
              </a:extLst>
            </p:cNvPr>
            <p:cNvCxnSpPr>
              <a:cxnSpLocks/>
              <a:stCxn id="8" idx="6"/>
              <a:endCxn id="12" idx="2"/>
            </p:cNvCxnSpPr>
            <p:nvPr/>
          </p:nvCxnSpPr>
          <p:spPr>
            <a:xfrm>
              <a:off x="4556245" y="2457548"/>
              <a:ext cx="2894450" cy="1556163"/>
            </a:xfrm>
            <a:prstGeom prst="line">
              <a:avLst/>
            </a:prstGeom>
            <a:ln w="38100"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FE155AE7-13E9-EF28-39D6-AE6AA8D5BC10}"/>
                </a:ext>
              </a:extLst>
            </p:cNvPr>
            <p:cNvCxnSpPr>
              <a:cxnSpLocks/>
            </p:cNvCxnSpPr>
            <p:nvPr/>
          </p:nvCxnSpPr>
          <p:spPr>
            <a:xfrm>
              <a:off x="5667270" y="3054028"/>
              <a:ext cx="655447" cy="349572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B056B60C-A174-CE02-A359-52A77A102F03}"/>
                </a:ext>
              </a:extLst>
            </p:cNvPr>
            <p:cNvSpPr/>
            <p:nvPr/>
          </p:nvSpPr>
          <p:spPr>
            <a:xfrm rot="17793104">
              <a:off x="5895041" y="1320218"/>
              <a:ext cx="242886" cy="383651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6696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346A0947-132E-37D2-C73D-25272AABF9F4}"/>
              </a:ext>
            </a:extLst>
          </p:cNvPr>
          <p:cNvGrpSpPr/>
          <p:nvPr/>
        </p:nvGrpSpPr>
        <p:grpSpPr>
          <a:xfrm>
            <a:off x="751281" y="1810872"/>
            <a:ext cx="10689437" cy="3725754"/>
            <a:chOff x="1108168" y="2015589"/>
            <a:chExt cx="10689437" cy="3725754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50B3DEC-04D6-157B-7242-31EB979C9B73}"/>
                </a:ext>
              </a:extLst>
            </p:cNvPr>
            <p:cNvSpPr txBox="1"/>
            <p:nvPr/>
          </p:nvSpPr>
          <p:spPr>
            <a:xfrm>
              <a:off x="1108168" y="2979553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日本</a:t>
              </a: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331C9E2-501A-CC44-19EC-F3FCD069203D}"/>
                </a:ext>
              </a:extLst>
            </p:cNvPr>
            <p:cNvSpPr txBox="1"/>
            <p:nvPr/>
          </p:nvSpPr>
          <p:spPr>
            <a:xfrm>
              <a:off x="10773028" y="2979553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米国</a:t>
              </a:r>
            </a:p>
          </p:txBody>
        </p:sp>
        <p:cxnSp>
          <p:nvCxnSpPr>
            <p:cNvPr id="4" name="直線コネクタ 3">
              <a:extLst>
                <a:ext uri="{FF2B5EF4-FFF2-40B4-BE49-F238E27FC236}">
                  <a16:creationId xmlns:a16="http://schemas.microsoft.com/office/drawing/2014/main" id="{A035C91D-F04C-0BE9-EB75-B45485EBD967}"/>
                </a:ext>
              </a:extLst>
            </p:cNvPr>
            <p:cNvCxnSpPr>
              <a:cxnSpLocks/>
            </p:cNvCxnSpPr>
            <p:nvPr/>
          </p:nvCxnSpPr>
          <p:spPr>
            <a:xfrm>
              <a:off x="1620457" y="3441218"/>
              <a:ext cx="9664860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904583B9-70FA-D8F1-42E8-CB951C678CB6}"/>
                </a:ext>
              </a:extLst>
            </p:cNvPr>
            <p:cNvSpPr/>
            <p:nvPr/>
          </p:nvSpPr>
          <p:spPr>
            <a:xfrm>
              <a:off x="4781286" y="3171395"/>
              <a:ext cx="45719" cy="539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3FD7F6C3-19B5-BE00-B973-889FC6A6D13E}"/>
                </a:ext>
              </a:extLst>
            </p:cNvPr>
            <p:cNvSpPr/>
            <p:nvPr/>
          </p:nvSpPr>
          <p:spPr>
            <a:xfrm>
              <a:off x="8069167" y="3159177"/>
              <a:ext cx="55320" cy="539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5741CAF3-666B-E45F-49CA-5CBEA4956766}"/>
                </a:ext>
              </a:extLst>
            </p:cNvPr>
            <p:cNvCxnSpPr>
              <a:cxnSpLocks/>
            </p:cNvCxnSpPr>
            <p:nvPr/>
          </p:nvCxnSpPr>
          <p:spPr>
            <a:xfrm>
              <a:off x="4827005" y="3441218"/>
              <a:ext cx="324216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左中かっこ 21">
              <a:extLst>
                <a:ext uri="{FF2B5EF4-FFF2-40B4-BE49-F238E27FC236}">
                  <a16:creationId xmlns:a16="http://schemas.microsoft.com/office/drawing/2014/main" id="{0CA38B36-E588-B728-F134-59DE233E176D}"/>
                </a:ext>
              </a:extLst>
            </p:cNvPr>
            <p:cNvSpPr/>
            <p:nvPr/>
          </p:nvSpPr>
          <p:spPr>
            <a:xfrm rot="5400000">
              <a:off x="4506409" y="-352681"/>
              <a:ext cx="539645" cy="6311550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左中かっこ 22">
              <a:extLst>
                <a:ext uri="{FF2B5EF4-FFF2-40B4-BE49-F238E27FC236}">
                  <a16:creationId xmlns:a16="http://schemas.microsoft.com/office/drawing/2014/main" id="{A74F3A8E-7530-9E77-3DA6-3338512E381A}"/>
                </a:ext>
              </a:extLst>
            </p:cNvPr>
            <p:cNvSpPr/>
            <p:nvPr/>
          </p:nvSpPr>
          <p:spPr>
            <a:xfrm rot="5400000" flipH="1">
              <a:off x="7758978" y="1650313"/>
              <a:ext cx="551212" cy="6501466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4673902D-5643-043A-B108-3AA2DB559637}"/>
                </a:ext>
              </a:extLst>
            </p:cNvPr>
            <p:cNvSpPr txBox="1"/>
            <p:nvPr/>
          </p:nvSpPr>
          <p:spPr>
            <a:xfrm>
              <a:off x="3382317" y="2015589"/>
              <a:ext cx="278782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日本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</a:t>
              </a:r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無差別曲線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CB4FFCC5-9E00-32EF-8A50-AC668C9BFD99}"/>
                </a:ext>
              </a:extLst>
            </p:cNvPr>
            <p:cNvSpPr txBox="1"/>
            <p:nvPr/>
          </p:nvSpPr>
          <p:spPr>
            <a:xfrm>
              <a:off x="6640670" y="5279678"/>
              <a:ext cx="278782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米国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</a:t>
              </a:r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無差別曲線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26" name="左中かっこ 25">
              <a:extLst>
                <a:ext uri="{FF2B5EF4-FFF2-40B4-BE49-F238E27FC236}">
                  <a16:creationId xmlns:a16="http://schemas.microsoft.com/office/drawing/2014/main" id="{C917D14D-E54C-D6BD-422D-AD090A689663}"/>
                </a:ext>
              </a:extLst>
            </p:cNvPr>
            <p:cNvSpPr/>
            <p:nvPr/>
          </p:nvSpPr>
          <p:spPr>
            <a:xfrm rot="5400000" flipH="1">
              <a:off x="6298566" y="2241201"/>
              <a:ext cx="349302" cy="3302539"/>
            </a:xfrm>
            <a:prstGeom prst="leftBrac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FCC9BD7C-7598-A3E4-2495-40D301799643}"/>
                </a:ext>
              </a:extLst>
            </p:cNvPr>
            <p:cNvSpPr txBox="1"/>
            <p:nvPr/>
          </p:nvSpPr>
          <p:spPr>
            <a:xfrm>
              <a:off x="5652594" y="4163775"/>
              <a:ext cx="164124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勝利集合</a:t>
              </a:r>
              <a:endParaRPr kumimoji="1" lang="en-US" altLang="ja-JP" sz="2400" b="1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5379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026FF18-1577-83A7-0168-2A3FA9EF31D0}"/>
              </a:ext>
            </a:extLst>
          </p:cNvPr>
          <p:cNvGrpSpPr/>
          <p:nvPr/>
        </p:nvGrpSpPr>
        <p:grpSpPr>
          <a:xfrm>
            <a:off x="751281" y="1827900"/>
            <a:ext cx="10689437" cy="3708726"/>
            <a:chOff x="751281" y="1827900"/>
            <a:chExt cx="10689437" cy="3708726"/>
          </a:xfrm>
        </p:grpSpPr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C108C12F-6AA1-4EEA-43F3-4E5EC4A58FFC}"/>
                </a:ext>
              </a:extLst>
            </p:cNvPr>
            <p:cNvSpPr txBox="1"/>
            <p:nvPr/>
          </p:nvSpPr>
          <p:spPr>
            <a:xfrm>
              <a:off x="751281" y="2774836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日本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CEBB2BF8-C566-B92E-1526-0FA335B6CCE4}"/>
                </a:ext>
              </a:extLst>
            </p:cNvPr>
            <p:cNvSpPr txBox="1"/>
            <p:nvPr/>
          </p:nvSpPr>
          <p:spPr>
            <a:xfrm>
              <a:off x="10416141" y="2774836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米国</a:t>
              </a:r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FA58B12D-EBD6-0CED-7FA1-2CC8A78E7922}"/>
                </a:ext>
              </a:extLst>
            </p:cNvPr>
            <p:cNvCxnSpPr>
              <a:cxnSpLocks/>
            </p:cNvCxnSpPr>
            <p:nvPr/>
          </p:nvCxnSpPr>
          <p:spPr>
            <a:xfrm>
              <a:off x="1263570" y="3236501"/>
              <a:ext cx="9664860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97B75DFC-6C8E-749E-BB1D-3958FF242C30}"/>
                </a:ext>
              </a:extLst>
            </p:cNvPr>
            <p:cNvSpPr/>
            <p:nvPr/>
          </p:nvSpPr>
          <p:spPr>
            <a:xfrm>
              <a:off x="4424399" y="2966678"/>
              <a:ext cx="45719" cy="539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B111B67-2A09-C3FB-5489-0ECD359B4CC7}"/>
                </a:ext>
              </a:extLst>
            </p:cNvPr>
            <p:cNvSpPr/>
            <p:nvPr/>
          </p:nvSpPr>
          <p:spPr>
            <a:xfrm>
              <a:off x="7712280" y="2954460"/>
              <a:ext cx="55320" cy="539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CA353BE0-CFBF-2314-B93E-1D24F9399A74}"/>
                </a:ext>
              </a:extLst>
            </p:cNvPr>
            <p:cNvCxnSpPr>
              <a:cxnSpLocks/>
            </p:cNvCxnSpPr>
            <p:nvPr/>
          </p:nvCxnSpPr>
          <p:spPr>
            <a:xfrm>
              <a:off x="1241946" y="3236501"/>
              <a:ext cx="6470334" cy="0"/>
            </a:xfrm>
            <a:prstGeom prst="line">
              <a:avLst/>
            </a:prstGeom>
            <a:ln w="57150"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左中かっこ 21">
              <a:extLst>
                <a:ext uri="{FF2B5EF4-FFF2-40B4-BE49-F238E27FC236}">
                  <a16:creationId xmlns:a16="http://schemas.microsoft.com/office/drawing/2014/main" id="{1B508567-7EDA-A317-F390-EAEA2BE20759}"/>
                </a:ext>
              </a:extLst>
            </p:cNvPr>
            <p:cNvSpPr/>
            <p:nvPr/>
          </p:nvSpPr>
          <p:spPr>
            <a:xfrm rot="5400000">
              <a:off x="4149522" y="-557398"/>
              <a:ext cx="539645" cy="6311550"/>
            </a:xfrm>
            <a:prstGeom prst="leftBrac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左中かっこ 22">
              <a:extLst>
                <a:ext uri="{FF2B5EF4-FFF2-40B4-BE49-F238E27FC236}">
                  <a16:creationId xmlns:a16="http://schemas.microsoft.com/office/drawing/2014/main" id="{567D003A-65A5-C1A5-FAB0-7309A21B8325}"/>
                </a:ext>
              </a:extLst>
            </p:cNvPr>
            <p:cNvSpPr/>
            <p:nvPr/>
          </p:nvSpPr>
          <p:spPr>
            <a:xfrm rot="5400000" flipH="1">
              <a:off x="3221667" y="2474120"/>
              <a:ext cx="542282" cy="4453348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0F3FE58D-24B5-3AAF-25EE-924469FC206E}"/>
                </a:ext>
              </a:extLst>
            </p:cNvPr>
            <p:cNvSpPr txBox="1"/>
            <p:nvPr/>
          </p:nvSpPr>
          <p:spPr>
            <a:xfrm>
              <a:off x="2634073" y="1827900"/>
              <a:ext cx="3661973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自動車産業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</a:t>
              </a:r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無差別曲線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4858CE2-89F0-3E6B-532C-5E6244E65B3B}"/>
                </a:ext>
              </a:extLst>
            </p:cNvPr>
            <p:cNvSpPr txBox="1"/>
            <p:nvPr/>
          </p:nvSpPr>
          <p:spPr>
            <a:xfrm>
              <a:off x="2141495" y="5074961"/>
              <a:ext cx="301239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レベル</a:t>
              </a:r>
              <a:r>
                <a:rPr lang="en-US" altLang="ja-JP" sz="2400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2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</a:t>
              </a:r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勝利集合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26" name="左中かっこ 25">
              <a:extLst>
                <a:ext uri="{FF2B5EF4-FFF2-40B4-BE49-F238E27FC236}">
                  <a16:creationId xmlns:a16="http://schemas.microsoft.com/office/drawing/2014/main" id="{985651C7-9909-F6D7-0FE4-96370BD9C3D7}"/>
                </a:ext>
              </a:extLst>
            </p:cNvPr>
            <p:cNvSpPr/>
            <p:nvPr/>
          </p:nvSpPr>
          <p:spPr>
            <a:xfrm rot="5400000" flipH="1">
              <a:off x="3306063" y="1448986"/>
              <a:ext cx="349302" cy="4477536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B8A2556C-7335-9685-0C65-36662EA7CAFF}"/>
                </a:ext>
              </a:extLst>
            </p:cNvPr>
            <p:cNvSpPr txBox="1"/>
            <p:nvPr/>
          </p:nvSpPr>
          <p:spPr>
            <a:xfrm>
              <a:off x="2032106" y="3967988"/>
              <a:ext cx="289721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農家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</a:t>
              </a:r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無差別曲線</a:t>
              </a:r>
              <a:endParaRPr kumimoji="1" lang="en-US" altLang="ja-JP" sz="2400" b="1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D7345F29-994C-8770-2F42-E505AD3DED38}"/>
                </a:ext>
              </a:extLst>
            </p:cNvPr>
            <p:cNvCxnSpPr>
              <a:cxnSpLocks/>
            </p:cNvCxnSpPr>
            <p:nvPr/>
          </p:nvCxnSpPr>
          <p:spPr>
            <a:xfrm>
              <a:off x="1241946" y="3293701"/>
              <a:ext cx="4477536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5691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005DD43-09BE-250C-A348-43CBA10BBFB5}"/>
              </a:ext>
            </a:extLst>
          </p:cNvPr>
          <p:cNvGrpSpPr/>
          <p:nvPr/>
        </p:nvGrpSpPr>
        <p:grpSpPr>
          <a:xfrm>
            <a:off x="751281" y="1838290"/>
            <a:ext cx="10689437" cy="3700892"/>
            <a:chOff x="751281" y="1838290"/>
            <a:chExt cx="10689437" cy="3700892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7199FA93-0A7C-0B02-5DC1-A22F8E794272}"/>
                </a:ext>
              </a:extLst>
            </p:cNvPr>
            <p:cNvSpPr txBox="1"/>
            <p:nvPr/>
          </p:nvSpPr>
          <p:spPr>
            <a:xfrm>
              <a:off x="751281" y="2774836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日本</a:t>
              </a: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C1DE3DB5-ADC0-E38C-E5DD-A031D6133278}"/>
                </a:ext>
              </a:extLst>
            </p:cNvPr>
            <p:cNvSpPr txBox="1"/>
            <p:nvPr/>
          </p:nvSpPr>
          <p:spPr>
            <a:xfrm>
              <a:off x="10416141" y="2774836"/>
              <a:ext cx="10245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米国</a:t>
              </a:r>
            </a:p>
          </p:txBody>
        </p:sp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FF9DF667-FA73-B646-0269-F478F887ABEF}"/>
                </a:ext>
              </a:extLst>
            </p:cNvPr>
            <p:cNvCxnSpPr>
              <a:cxnSpLocks/>
            </p:cNvCxnSpPr>
            <p:nvPr/>
          </p:nvCxnSpPr>
          <p:spPr>
            <a:xfrm>
              <a:off x="1263570" y="3236501"/>
              <a:ext cx="9664860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031DBD57-980D-AA3F-4B94-13C5866C18C7}"/>
                </a:ext>
              </a:extLst>
            </p:cNvPr>
            <p:cNvSpPr/>
            <p:nvPr/>
          </p:nvSpPr>
          <p:spPr>
            <a:xfrm>
              <a:off x="4424399" y="2966678"/>
              <a:ext cx="45719" cy="539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F47D7D34-079E-C7AC-C137-52379667B16B}"/>
                </a:ext>
              </a:extLst>
            </p:cNvPr>
            <p:cNvSpPr/>
            <p:nvPr/>
          </p:nvSpPr>
          <p:spPr>
            <a:xfrm>
              <a:off x="7712280" y="2954460"/>
              <a:ext cx="55320" cy="5396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2C2D106-F7CA-84FF-DC07-BC26A78BD4B5}"/>
                </a:ext>
              </a:extLst>
            </p:cNvPr>
            <p:cNvCxnSpPr>
              <a:cxnSpLocks/>
            </p:cNvCxnSpPr>
            <p:nvPr/>
          </p:nvCxnSpPr>
          <p:spPr>
            <a:xfrm>
              <a:off x="1241946" y="3236501"/>
              <a:ext cx="6470334" cy="0"/>
            </a:xfrm>
            <a:prstGeom prst="line">
              <a:avLst/>
            </a:prstGeom>
            <a:ln w="57150"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左中かっこ 8">
              <a:extLst>
                <a:ext uri="{FF2B5EF4-FFF2-40B4-BE49-F238E27FC236}">
                  <a16:creationId xmlns:a16="http://schemas.microsoft.com/office/drawing/2014/main" id="{95D9B733-DC17-B1C9-A4C0-BDEB34378E48}"/>
                </a:ext>
              </a:extLst>
            </p:cNvPr>
            <p:cNvSpPr/>
            <p:nvPr/>
          </p:nvSpPr>
          <p:spPr>
            <a:xfrm rot="5400000">
              <a:off x="4802117" y="1950836"/>
              <a:ext cx="539645" cy="1295084"/>
            </a:xfrm>
            <a:prstGeom prst="leftBrac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左中かっこ 9">
              <a:extLst>
                <a:ext uri="{FF2B5EF4-FFF2-40B4-BE49-F238E27FC236}">
                  <a16:creationId xmlns:a16="http://schemas.microsoft.com/office/drawing/2014/main" id="{018F4A7E-BE45-21B5-D2C9-259A87E96FE9}"/>
                </a:ext>
              </a:extLst>
            </p:cNvPr>
            <p:cNvSpPr/>
            <p:nvPr/>
          </p:nvSpPr>
          <p:spPr>
            <a:xfrm rot="5400000" flipH="1">
              <a:off x="2721340" y="1973794"/>
              <a:ext cx="1542935" cy="4453348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282A378-9141-B379-7CC5-012CD043C952}"/>
                </a:ext>
              </a:extLst>
            </p:cNvPr>
            <p:cNvSpPr txBox="1"/>
            <p:nvPr/>
          </p:nvSpPr>
          <p:spPr>
            <a:xfrm>
              <a:off x="3844924" y="1838290"/>
              <a:ext cx="2454029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新しい勝利集合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1C31E6A-0489-A4A7-6264-23E75BB0D3AC}"/>
                </a:ext>
              </a:extLst>
            </p:cNvPr>
            <p:cNvSpPr txBox="1"/>
            <p:nvPr/>
          </p:nvSpPr>
          <p:spPr>
            <a:xfrm>
              <a:off x="1584828" y="5077517"/>
              <a:ext cx="381596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新しい日本の無差別曲線</a:t>
              </a:r>
              <a:endParaRPr kumimoji="1" lang="en-US" altLang="ja-JP" sz="24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59B5A3EB-7AAF-CCF3-24A0-E2BBCB87950A}"/>
                </a:ext>
              </a:extLst>
            </p:cNvPr>
            <p:cNvCxnSpPr>
              <a:cxnSpLocks/>
            </p:cNvCxnSpPr>
            <p:nvPr/>
          </p:nvCxnSpPr>
          <p:spPr>
            <a:xfrm>
              <a:off x="1241946" y="3293701"/>
              <a:ext cx="4477536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FF65E78-DB39-0554-5059-9E56FFE92796}"/>
              </a:ext>
            </a:extLst>
          </p:cNvPr>
          <p:cNvCxnSpPr>
            <a:cxnSpLocks/>
          </p:cNvCxnSpPr>
          <p:nvPr/>
        </p:nvCxnSpPr>
        <p:spPr>
          <a:xfrm>
            <a:off x="4470118" y="3236501"/>
            <a:ext cx="124936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495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7F1968D-252C-4570-E60E-EFF3C091133E}"/>
              </a:ext>
            </a:extLst>
          </p:cNvPr>
          <p:cNvGrpSpPr/>
          <p:nvPr/>
        </p:nvGrpSpPr>
        <p:grpSpPr>
          <a:xfrm>
            <a:off x="577047" y="565208"/>
            <a:ext cx="11037906" cy="5727583"/>
            <a:chOff x="638086" y="339023"/>
            <a:chExt cx="11037906" cy="5727583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2989DE21-577D-2F94-6F00-1B99E694A3B6}"/>
                </a:ext>
              </a:extLst>
            </p:cNvPr>
            <p:cNvCxnSpPr/>
            <p:nvPr/>
          </p:nvCxnSpPr>
          <p:spPr>
            <a:xfrm>
              <a:off x="1013254" y="3707027"/>
              <a:ext cx="10354962" cy="0"/>
            </a:xfrm>
            <a:prstGeom prst="line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9D56CF8-4C13-940C-E059-05BDB12F03F4}"/>
                </a:ext>
              </a:extLst>
            </p:cNvPr>
            <p:cNvSpPr txBox="1"/>
            <p:nvPr/>
          </p:nvSpPr>
          <p:spPr>
            <a:xfrm>
              <a:off x="10752662" y="1731297"/>
              <a:ext cx="923330" cy="188769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ja-JP" altLang="en-US" sz="28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変動相場制</a:t>
              </a:r>
              <a:br>
                <a:rPr kumimoji="1" lang="en-US" altLang="ja-JP" sz="2800" b="1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</a:br>
              <a:r>
                <a:rPr kumimoji="1"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(floating)</a:t>
              </a:r>
              <a:endParaRPr kumimoji="1" lang="ja-JP" altLang="en-US" sz="2800" b="1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E565842-8DA0-A9C1-5740-85D5C06075AB}"/>
                </a:ext>
              </a:extLst>
            </p:cNvPr>
            <p:cNvSpPr txBox="1"/>
            <p:nvPr/>
          </p:nvSpPr>
          <p:spPr>
            <a:xfrm>
              <a:off x="638086" y="1655819"/>
              <a:ext cx="923330" cy="19631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ja-JP" altLang="en-US" sz="28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固定相場制</a:t>
              </a:r>
              <a:endParaRPr kumimoji="1" lang="en-US" altLang="ja-JP" sz="2800" b="1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(fixed)</a:t>
              </a:r>
              <a:endParaRPr kumimoji="1" lang="ja-JP" altLang="en-US" sz="20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7082650-E89F-AED7-2E32-1454499C8AC3}"/>
                </a:ext>
              </a:extLst>
            </p:cNvPr>
            <p:cNvSpPr txBox="1"/>
            <p:nvPr/>
          </p:nvSpPr>
          <p:spPr>
            <a:xfrm>
              <a:off x="7951797" y="1057168"/>
              <a:ext cx="923330" cy="2605842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管理変動相場制</a:t>
              </a:r>
              <a:br>
                <a:rPr kumimoji="1"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</a:br>
              <a:r>
                <a:rPr kumimoji="1"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(managed floating)</a:t>
              </a:r>
              <a:endParaRPr kumimoji="1" lang="ja-JP" altLang="en-US" sz="28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52F629D-7DAD-45E1-F335-65D0AEE57AED}"/>
                </a:ext>
              </a:extLst>
            </p:cNvPr>
            <p:cNvSpPr txBox="1"/>
            <p:nvPr/>
          </p:nvSpPr>
          <p:spPr>
            <a:xfrm>
              <a:off x="3866971" y="339023"/>
              <a:ext cx="923330" cy="332398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調整可能固定相場制</a:t>
              </a:r>
              <a:endParaRPr kumimoji="1" lang="en-US" altLang="ja-JP" sz="28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(fixed but adjustab</a:t>
              </a:r>
              <a:r>
                <a:rPr lang="en-US" altLang="ja-JP" sz="20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le)</a:t>
              </a:r>
              <a:endParaRPr kumimoji="1" lang="ja-JP" altLang="en-US" sz="20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305DBF84-991A-F414-B68D-BA902CD04925}"/>
                </a:ext>
              </a:extLst>
            </p:cNvPr>
            <p:cNvSpPr txBox="1"/>
            <p:nvPr/>
          </p:nvSpPr>
          <p:spPr>
            <a:xfrm>
              <a:off x="1013253" y="4250724"/>
              <a:ext cx="3777048" cy="18158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金本位制</a:t>
              </a:r>
              <a:br>
                <a:rPr kumimoji="1"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</a:br>
              <a:r>
                <a:rPr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通貨同盟</a:t>
              </a:r>
              <a:endParaRPr lang="en-US" altLang="ja-JP" sz="28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自国通貨の放棄</a:t>
              </a:r>
              <a:endParaRPr kumimoji="1" lang="en-US" altLang="ja-JP" sz="28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カレンシー・ボード制</a:t>
              </a:r>
              <a:endParaRPr kumimoji="1" lang="en-US" altLang="ja-JP" sz="28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4BC2EF5C-5EEA-6165-B082-8F36D3014AB5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1099751" y="3707027"/>
              <a:ext cx="1802026" cy="54369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9975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AE8633F4-1438-5B61-5EBC-E504ACF7D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14641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4184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E03B17EC-41B2-DAB1-70BF-03449EA59A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559756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4714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4940CFC-0C90-EAB4-9EBE-040E72BE2157}"/>
              </a:ext>
            </a:extLst>
          </p:cNvPr>
          <p:cNvGrpSpPr/>
          <p:nvPr/>
        </p:nvGrpSpPr>
        <p:grpSpPr>
          <a:xfrm>
            <a:off x="3095182" y="1400898"/>
            <a:ext cx="6053705" cy="4594811"/>
            <a:chOff x="3095182" y="1400898"/>
            <a:chExt cx="6053705" cy="4594811"/>
          </a:xfrm>
        </p:grpSpPr>
        <p:sp>
          <p:nvSpPr>
            <p:cNvPr id="3" name="三角形 2">
              <a:extLst>
                <a:ext uri="{FF2B5EF4-FFF2-40B4-BE49-F238E27FC236}">
                  <a16:creationId xmlns:a16="http://schemas.microsoft.com/office/drawing/2014/main" id="{E9F03896-0AB1-3E2C-0D03-489C2C15679B}"/>
                </a:ext>
              </a:extLst>
            </p:cNvPr>
            <p:cNvSpPr/>
            <p:nvPr/>
          </p:nvSpPr>
          <p:spPr>
            <a:xfrm>
              <a:off x="4011168" y="1631731"/>
              <a:ext cx="4169664" cy="3594538"/>
            </a:xfrm>
            <a:prstGeom prst="triangl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2BA12B38-0D82-A4FA-ADED-B7AC0E0CD8C8}"/>
                </a:ext>
              </a:extLst>
            </p:cNvPr>
            <p:cNvSpPr txBox="1"/>
            <p:nvPr/>
          </p:nvSpPr>
          <p:spPr>
            <a:xfrm>
              <a:off x="4868985" y="1400898"/>
              <a:ext cx="2454029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b="1"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固定相場制</a:t>
              </a:r>
              <a:endParaRPr kumimoji="1" lang="en-US" altLang="ja-JP" sz="3200" b="1" dirty="0"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24F6B80A-9CAA-6229-21C3-BF54730C5774}"/>
                </a:ext>
              </a:extLst>
            </p:cNvPr>
            <p:cNvSpPr txBox="1"/>
            <p:nvPr/>
          </p:nvSpPr>
          <p:spPr>
            <a:xfrm>
              <a:off x="3095182" y="4687659"/>
              <a:ext cx="1831971" cy="10772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b="1"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自由な</a:t>
              </a:r>
              <a:endParaRPr kumimoji="1" lang="en-US" altLang="ja-JP" sz="3200" b="1" dirty="0"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  <a:p>
              <a:pPr algn="ctr"/>
              <a:r>
                <a:rPr kumimoji="1" lang="ja-JP" altLang="en-US" sz="3200" b="1"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資本移動</a:t>
              </a:r>
              <a:endParaRPr kumimoji="1" lang="en-US" altLang="ja-JP" sz="3200" b="1" dirty="0"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B8EF5A06-A7A9-AEFD-AFF7-2C08D72D7364}"/>
                </a:ext>
              </a:extLst>
            </p:cNvPr>
            <p:cNvSpPr txBox="1"/>
            <p:nvPr/>
          </p:nvSpPr>
          <p:spPr>
            <a:xfrm>
              <a:off x="7040706" y="4687659"/>
              <a:ext cx="2108181" cy="10772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b="1"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独立した金融政策</a:t>
              </a:r>
              <a:endParaRPr kumimoji="1" lang="en-US" altLang="ja-JP" sz="3200" b="1" dirty="0"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63A9492E-CF1D-D99C-4C96-B90744576E8E}"/>
                </a:ext>
              </a:extLst>
            </p:cNvPr>
            <p:cNvSpPr txBox="1"/>
            <p:nvPr/>
          </p:nvSpPr>
          <p:spPr>
            <a:xfrm>
              <a:off x="5792546" y="5226268"/>
              <a:ext cx="60690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4400" b="1" dirty="0"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C</a:t>
              </a:r>
              <a:endParaRPr kumimoji="1" lang="en-US" altLang="ja-JP" sz="3200" b="1" dirty="0"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05534814-E9E4-2C16-D388-88BAEBC05445}"/>
                </a:ext>
              </a:extLst>
            </p:cNvPr>
            <p:cNvSpPr txBox="1"/>
            <p:nvPr/>
          </p:nvSpPr>
          <p:spPr>
            <a:xfrm>
              <a:off x="7305428" y="2951945"/>
              <a:ext cx="60690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4400" b="1" dirty="0"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B</a:t>
              </a:r>
              <a:endParaRPr kumimoji="1" lang="en-US" altLang="ja-JP" sz="3200" b="1" dirty="0"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6936F8AD-CAF6-798D-59CF-7DD13984264F}"/>
                </a:ext>
              </a:extLst>
            </p:cNvPr>
            <p:cNvSpPr txBox="1"/>
            <p:nvPr/>
          </p:nvSpPr>
          <p:spPr>
            <a:xfrm>
              <a:off x="4320248" y="2951944"/>
              <a:ext cx="60690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4400" b="1" dirty="0"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A</a:t>
              </a:r>
              <a:endParaRPr kumimoji="1" lang="en-US" altLang="ja-JP" sz="3200" b="1" dirty="0"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827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604</Words>
  <Application>Microsoft Macintosh PowerPoint</Application>
  <PresentationFormat>ワイド画面</PresentationFormat>
  <Paragraphs>176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8" baseType="lpstr">
      <vt:lpstr>HGPSoeiKakugothicUB</vt:lpstr>
      <vt:lpstr>Hiragino Kaku Gothic StdN W8</vt:lpstr>
      <vt:lpstr>Hiragino Sans W4</vt:lpstr>
      <vt:lpstr>Hiragino Sans W7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SUZUKI JUNPEI</cp:lastModifiedBy>
  <cp:revision>13</cp:revision>
  <dcterms:created xsi:type="dcterms:W3CDTF">2026-01-08T05:16:33Z</dcterms:created>
  <dcterms:modified xsi:type="dcterms:W3CDTF">2026-06-28T07:30:17Z</dcterms:modified>
</cp:coreProperties>
</file>